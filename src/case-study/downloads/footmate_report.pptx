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24573468f1e4303" /><Relationship Type="http://schemas.openxmlformats.org/officeDocument/2006/relationships/extended-properties" Target="/docProps/app.xml" Id="R134393a248244bde" /><Relationship Type="http://schemas.openxmlformats.org/officeDocument/2006/relationships/officeDocument" Target="/ppt/presentation.xml" Id="Ra53c5929e6e54a9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eb47d65cf4a40ba"/>
  </p:sldMasterIdLst>
  <p:notesMasterIdLst>
    <p:notesMasterId xmlns:r="http://schemas.openxmlformats.org/officeDocument/2006/relationships" r:id="R4dfd81bf9d7b47e4"/>
  </p:notesMasterIdLst>
  <p:sldIdLst>
    <p:sldId xmlns:r="http://schemas.openxmlformats.org/officeDocument/2006/relationships" id="256" r:id="R264386c267ae40e8"/>
    <p:sldId xmlns:r="http://schemas.openxmlformats.org/officeDocument/2006/relationships" id="257" r:id="Rd3927cf59a544ca5"/>
    <p:sldId xmlns:r="http://schemas.openxmlformats.org/officeDocument/2006/relationships" id="258" r:id="Rfa77b65807084cb3"/>
    <p:sldId xmlns:r="http://schemas.openxmlformats.org/officeDocument/2006/relationships" id="259" r:id="Rca4137d8c8cc4696"/>
    <p:sldId xmlns:r="http://schemas.openxmlformats.org/officeDocument/2006/relationships" id="260" r:id="R5a31cb97b81c4a08"/>
    <p:sldId xmlns:r="http://schemas.openxmlformats.org/officeDocument/2006/relationships" id="261" r:id="Rf4733e15389b41d3"/>
    <p:sldId xmlns:r="http://schemas.openxmlformats.org/officeDocument/2006/relationships" id="262" r:id="R7eb0c3aadcf24a2f"/>
    <p:sldId xmlns:r="http://schemas.openxmlformats.org/officeDocument/2006/relationships" id="263" r:id="R195f0d0fd140425d"/>
    <p:sldId xmlns:r="http://schemas.openxmlformats.org/officeDocument/2006/relationships" id="264" r:id="R59064ff76b91401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1d7bf205c2d4998" /><Relationship Type="http://schemas.openxmlformats.org/officeDocument/2006/relationships/slideMaster" Target="/ppt/slideMasters/slideMaster1.xml" Id="R8eb47d65cf4a40ba" /><Relationship Type="http://schemas.openxmlformats.org/officeDocument/2006/relationships/notesMaster" Target="/ppt/notesMasters/notesMaster1.xml" Id="R4dfd81bf9d7b47e4" /><Relationship Type="http://schemas.openxmlformats.org/officeDocument/2006/relationships/presProps" Target="/ppt/presProps.xml" Id="Rc87b3ff02f0744d2" /><Relationship Type="http://schemas.openxmlformats.org/officeDocument/2006/relationships/tableStyles" Target="/ppt/tableStyles.xml" Id="R3b08b05a834c431f" /><Relationship Type="http://schemas.openxmlformats.org/officeDocument/2006/relationships/slide" Target="/ppt/slides/slide1.xml" Id="R264386c267ae40e8" /><Relationship Type="http://schemas.openxmlformats.org/officeDocument/2006/relationships/slide" Target="/ppt/slides/slide2.xml" Id="Rd3927cf59a544ca5" /><Relationship Type="http://schemas.openxmlformats.org/officeDocument/2006/relationships/slide" Target="/ppt/slides/slide3.xml" Id="Rfa77b65807084cb3" /><Relationship Type="http://schemas.openxmlformats.org/officeDocument/2006/relationships/slide" Target="/ppt/slides/slide4.xml" Id="Rca4137d8c8cc4696" /><Relationship Type="http://schemas.openxmlformats.org/officeDocument/2006/relationships/slide" Target="/ppt/slides/slide5.xml" Id="R5a31cb97b81c4a08" /><Relationship Type="http://schemas.openxmlformats.org/officeDocument/2006/relationships/slide" Target="/ppt/slides/slide6.xml" Id="Rf4733e15389b41d3" /><Relationship Type="http://schemas.openxmlformats.org/officeDocument/2006/relationships/slide" Target="/ppt/slides/slide7.xml" Id="R7eb0c3aadcf24a2f" /><Relationship Type="http://schemas.openxmlformats.org/officeDocument/2006/relationships/slide" Target="/ppt/slides/slide8.xml" Id="R195f0d0fd140425d" /><Relationship Type="http://schemas.openxmlformats.org/officeDocument/2006/relationships/slide" Target="/ppt/slides/slide9.xml" Id="R59064ff76b91401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7a124c73cc643c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3fc98b920f54ad8" /><Relationship Type="http://schemas.openxmlformats.org/officeDocument/2006/relationships/notesMaster" Target="/ppt/notesMasters/notesMaster1.xml" Id="R4aff42d8db3a4d6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f23f9d76be34d5c" /><Relationship Type="http://schemas.openxmlformats.org/officeDocument/2006/relationships/notesMaster" Target="/ppt/notesMasters/notesMaster1.xml" Id="R7495c79a4723429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1ddda6cd8514daa" /><Relationship Type="http://schemas.openxmlformats.org/officeDocument/2006/relationships/notesMaster" Target="/ppt/notesMasters/notesMaster1.xml" Id="R5996745c4c82474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fe34ea47fba4320" /><Relationship Type="http://schemas.openxmlformats.org/officeDocument/2006/relationships/notesMaster" Target="/ppt/notesMasters/notesMaster1.xml" Id="R8990637f2b56432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c42fe29704c4c5a" /><Relationship Type="http://schemas.openxmlformats.org/officeDocument/2006/relationships/notesMaster" Target="/ppt/notesMasters/notesMaster1.xml" Id="R6914e0195f7f40c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df3fe4a4f7c4fe8" /><Relationship Type="http://schemas.openxmlformats.org/officeDocument/2006/relationships/notesMaster" Target="/ppt/notesMasters/notesMaster1.xml" Id="R2bc75a07da62499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0cb83021c8c4422" /><Relationship Type="http://schemas.openxmlformats.org/officeDocument/2006/relationships/notesMaster" Target="/ppt/notesMasters/notesMaster1.xml" Id="Rc23cbb13d2774a2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97dd350edb7401b" /><Relationship Type="http://schemas.openxmlformats.org/officeDocument/2006/relationships/notesMaster" Target="/ppt/notesMasters/notesMaster1.xml" Id="R56aacc5a5ff34b7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b0a0bc13d364924" /><Relationship Type="http://schemas.openxmlformats.org/officeDocument/2006/relationships/notesMaster" Target="/ppt/notesMasters/notesMaster1.xml" Id="R77d5ccf9e5af4f2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포트폴리오용 합성 데이터·가정 기반 예측입니다. 실제 고객·계약·매출·인터뷰 결과가 아닙니다.</a:t>
            </a:r>
          </a:p>
          <a:p xmlns:a="http://schemas.openxmlformats.org/drawingml/2006/main">
            <a:r>
              <a:t>해당 사례의 독립 분석 자료. 계산 파일: footmate_model.xlsx. 시장·고객 근거의 출처와 한계는 원본 케이스 스터디에 표시.</a:t>
            </a:r>
          </a:p>
          <a:p xmlns:a="http://schemas.openxmlformats.org/drawingml/2006/main">
            <a:r>
              <a:t>https://footmate.fmate.workers.dev/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포트폴리오용 합성 데이터·가정 기반 예측입니다. 실제 고객·계약·매출·인터뷰 결과가 아닙니다.</a:t>
            </a:r>
          </a:p>
          <a:p xmlns:a="http://schemas.openxmlformats.org/drawingml/2006/main">
            <a:r>
              <a:t>해당 사례의 독립 분석 자료. 계산 파일: footmate_model.xlsx. 시장·고객 근거의 출처와 한계는 원본 케이스 스터디에 표시.</a:t>
            </a:r>
          </a:p>
          <a:p xmlns:a="http://schemas.openxmlformats.org/drawingml/2006/main">
            <a:r>
              <a:t>https://footmate.fmate.workers.dev/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포트폴리오용 합성 데이터·가정 기반 예측입니다. 실제 고객·계약·매출·인터뷰 결과가 아닙니다.</a:t>
            </a:r>
          </a:p>
          <a:p xmlns:a="http://schemas.openxmlformats.org/drawingml/2006/main">
            <a:r>
              <a:t>해당 사례의 독립 분석 자료. 계산 파일: footmate_model.xlsx. 시장·고객 근거의 출처와 한계는 원본 케이스 스터디에 표시.</a:t>
            </a:r>
          </a:p>
          <a:p xmlns:a="http://schemas.openxmlformats.org/drawingml/2006/main">
            <a:r>
              <a:t>https://footmate.fmate.workers.dev/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포트폴리오용 합성 데이터·가정 기반 예측입니다. 실제 고객·계약·매출·인터뷰 결과가 아닙니다.</a:t>
            </a:r>
          </a:p>
          <a:p xmlns:a="http://schemas.openxmlformats.org/drawingml/2006/main">
            <a:r>
              <a:t>해당 사례의 독립 분석 자료. 계산 파일: footmate_model.xlsx. 시장·고객 근거의 출처와 한계는 원본 케이스 스터디에 표시.</a:t>
            </a:r>
          </a:p>
          <a:p xmlns:a="http://schemas.openxmlformats.org/drawingml/2006/main">
            <a:r>
              <a:t>https://footmate.fmate.workers.dev/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포트폴리오용 합성 데이터·가정 기반 예측입니다. 실제 고객·계약·매출·인터뷰 결과가 아닙니다.</a:t>
            </a:r>
          </a:p>
          <a:p xmlns:a="http://schemas.openxmlformats.org/drawingml/2006/main">
            <a:r>
              <a:t>해당 사례의 독립 분석 자료. 계산 파일: footmate_model.xlsx. 시장·고객 근거의 출처와 한계는 원본 케이스 스터디에 표시.</a:t>
            </a:r>
          </a:p>
          <a:p xmlns:a="http://schemas.openxmlformats.org/drawingml/2006/main">
            <a:r>
              <a:t>https://footmate.fmate.workers.dev/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포트폴리오용 합성 데이터·가정 기반 예측입니다. 실제 고객·계약·매출·인터뷰 결과가 아닙니다.</a:t>
            </a:r>
          </a:p>
          <a:p xmlns:a="http://schemas.openxmlformats.org/drawingml/2006/main">
            <a:r>
              <a:t>해당 사례의 독립 분석 자료. 계산 파일: footmate_model.xlsx. 시장·고객 근거의 출처와 한계는 원본 케이스 스터디에 표시.</a:t>
            </a:r>
          </a:p>
          <a:p xmlns:a="http://schemas.openxmlformats.org/drawingml/2006/main">
            <a:r>
              <a:t>https://footmate.fmate.workers.dev/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포트폴리오용 합성 데이터·가정 기반 예측입니다. 실제 고객·계약·매출·인터뷰 결과가 아닙니다.</a:t>
            </a:r>
          </a:p>
          <a:p xmlns:a="http://schemas.openxmlformats.org/drawingml/2006/main">
            <a:r>
              <a:t>해당 사례의 독립 분석 자료. 계산 파일: footmate_model.xlsx. 시장·고객 근거의 출처와 한계는 원본 케이스 스터디에 표시.</a:t>
            </a:r>
          </a:p>
          <a:p xmlns:a="http://schemas.openxmlformats.org/drawingml/2006/main">
            <a:r>
              <a:t>https://footmate.fmate.workers.dev/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포트폴리오용 합성 데이터·가정 기반 예측입니다. 실제 고객·계약·매출·인터뷰 결과가 아닙니다.</a:t>
            </a:r>
          </a:p>
          <a:p xmlns:a="http://schemas.openxmlformats.org/drawingml/2006/main">
            <a:r>
              <a:t>해당 사례의 독립 분석 자료. 계산 파일: footmate_model.xlsx. 시장·고객 근거의 출처와 한계는 원본 케이스 스터디에 표시.</a:t>
            </a:r>
          </a:p>
          <a:p xmlns:a="http://schemas.openxmlformats.org/drawingml/2006/main">
            <a:r>
              <a:t>https://footmate.fmate.workers.dev/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포트폴리오용 합성 데이터·가정 기반 예측입니다. 실제 고객·계약·매출·인터뷰 결과가 아닙니다.</a:t>
            </a:r>
          </a:p>
          <a:p xmlns:a="http://schemas.openxmlformats.org/drawingml/2006/main">
            <a:r>
              <a:t>해당 사례의 독립 분석 자료. 계산 파일: footmate_model.xlsx. 시장·고객 근거의 출처와 한계는 원본 케이스 스터디에 표시.</a:t>
            </a:r>
          </a:p>
          <a:p xmlns:a="http://schemas.openxmlformats.org/drawingml/2006/main">
            <a:r>
              <a:t>https://footmate.fmate.workers.dev/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0a8436cfde4ab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8254c97f8a4b9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7a4089305a44c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fe7c295a154d4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b1cf7bac9d47d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e13311d4d341b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087A3B1-D7CE-4207-B5CE-2CF044C945F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BBEE04F-AB09-4B0F-9F63-992C5537358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C233167-8028-43F0-B159-92F620793CC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A3CB25B-E061-4196-B0AD-4B0188ACF0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372BEE5-DABC-4604-BFEA-CD43206A84B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69892B0-AF22-4DA0-ACAF-FAB3EFF92F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B8FA811-14B5-47AE-BEA0-93798207778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1045E3E-5CF0-4935-BBC0-4B995BF55FD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E368E1F-A74A-4D68-AC37-22D377A728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CB5DB1A-2342-42E4-8797-1CD8E36C369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27238b5b5484bb6" /><Relationship Type="http://schemas.openxmlformats.org/officeDocument/2006/relationships/slideLayout" Target="/ppt/slideLayouts/slideLayout1.xml" Id="R06d7d409c63646f0" /><Relationship Type="http://schemas.openxmlformats.org/officeDocument/2006/relationships/slideLayout" Target="/ppt/slideLayouts/slideLayout2.xml" Id="Rc238f7d24e3149e7" /><Relationship Type="http://schemas.openxmlformats.org/officeDocument/2006/relationships/slideLayout" Target="/ppt/slideLayouts/slideLayout3.xml" Id="R91a59f3e9e614cf9" /><Relationship Type="http://schemas.openxmlformats.org/officeDocument/2006/relationships/slideLayout" Target="/ppt/slideLayouts/slideLayout4.xml" Id="R199f4de4980b4d4e" /><Relationship Type="http://schemas.openxmlformats.org/officeDocument/2006/relationships/slideLayout" Target="/ppt/slideLayouts/slideLayout5.xml" Id="R648f54f471894298" /><Relationship Type="http://schemas.openxmlformats.org/officeDocument/2006/relationships/slideLayout" Target="/ppt/slideLayouts/slideLayout6.xml" Id="Rfb3f19d933804de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6d7d409c63646f0"/>
    <p:sldLayoutId xmlns:r="http://schemas.openxmlformats.org/officeDocument/2006/relationships" id="2147483650" r:id="Rc238f7d24e3149e7"/>
    <p:sldLayoutId xmlns:r="http://schemas.openxmlformats.org/officeDocument/2006/relationships" id="2147483651" r:id="R91a59f3e9e614cf9"/>
    <p:sldLayoutId xmlns:r="http://schemas.openxmlformats.org/officeDocument/2006/relationships" id="2147483652" r:id="R199f4de4980b4d4e"/>
    <p:sldLayoutId xmlns:r="http://schemas.openxmlformats.org/officeDocument/2006/relationships" id="2147483653" r:id="R648f54f471894298"/>
    <p:sldLayoutId xmlns:r="http://schemas.openxmlformats.org/officeDocument/2006/relationships" id="2147483654" r:id="Rfb3f19d933804de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f0409ad2b9400f" /><Relationship Type="http://schemas.openxmlformats.org/officeDocument/2006/relationships/notesSlide" Target="/ppt/notesSlides/notesSlide1.xml" Id="Rc3d1c0adc7e2414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ff7cf4f7f94bd1" /><Relationship Type="http://schemas.openxmlformats.org/officeDocument/2006/relationships/notesSlide" Target="/ppt/notesSlides/notesSlide2.xml" Id="Rae04685ceaef44c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00010e09bc24253" /><Relationship Type="http://schemas.openxmlformats.org/officeDocument/2006/relationships/notesSlide" Target="/ppt/notesSlides/notesSlide3.xml" Id="R2bf54e30c5dd44b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b725ad7873d4591" /><Relationship Type="http://schemas.openxmlformats.org/officeDocument/2006/relationships/notesSlide" Target="/ppt/notesSlides/notesSlide4.xml" Id="R6b11065f2e684dd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82d2ed26c14f9d" /><Relationship Type="http://schemas.openxmlformats.org/officeDocument/2006/relationships/chart" Target="/ppt/slides/charts/chart1.xml" Id="R424f7d8a8a4a4c07" /><Relationship Type="http://schemas.openxmlformats.org/officeDocument/2006/relationships/notesSlide" Target="/ppt/notesSlides/notesSlide5.xml" Id="R0a69c54c2e0a489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6bda90859c4674" /><Relationship Type="http://schemas.openxmlformats.org/officeDocument/2006/relationships/notesSlide" Target="/ppt/notesSlides/notesSlide6.xml" Id="Ra7a9eab7dd7a4f0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c1883fc4384489" /><Relationship Type="http://schemas.openxmlformats.org/officeDocument/2006/relationships/notesSlide" Target="/ppt/notesSlides/notesSlide7.xml" Id="Rc0fc61912269497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db696761715435c" /><Relationship Type="http://schemas.openxmlformats.org/officeDocument/2006/relationships/notesSlide" Target="/ppt/notesSlides/notesSlide8.xml" Id="Re68bb9cd9e41470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e27e152dad04ebe" /><Relationship Type="http://schemas.openxmlformats.org/officeDocument/2006/relationships/notesSlide" Target="/ppt/notesSlides/notesSlide9.xml" Id="Rd80f52b40b7d4846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Do Hyeon"/>
                <a:ea typeface="Do Hyeon"/>
                <a:cs typeface="Do Hyeon"/>
              </a:rPr>
              <a:t>FootMate 수수료 매출 (원)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Do Hyeon"/>
              <a:ea typeface="Do Hyeon"/>
              <a:cs typeface="Do Hyeon"/>
            </a:defRPr>
          </a:pPr>
        </a:p>
      </c:txPr>
    </c:title>
    <c:plotArea>
      <c:barChart>
        <c:barDir val="col"/>
        <c:varyColors val="0"/>
        <c:ser>
          <c:idx val="0"/>
          <c:order val="0"/>
          <c:tx>
            <c:v>계획</c:v>
          </c:tx>
          <c:spPr>
            <a:solidFill xmlns:a="http://schemas.openxmlformats.org/drawingml/2006/main">
              <a:srgbClr val="173F33"/>
            </a:solidFill>
          </c:spPr>
          <c:invertIfNegative val="0"/>
          <c:cat>
            <c:strRef>
              <c:f>'Chart Data'!$A$2:$A$13</c:f>
              <c:strCache>
                <c:ptCount val="12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  <c:pt idx="4">
                  <c:v>5월</c:v>
                </c:pt>
                <c:pt idx="5">
                  <c:v>6월</c:v>
                </c:pt>
                <c:pt idx="6">
                  <c:v>7월</c:v>
                </c:pt>
                <c:pt idx="7">
                  <c:v>8월</c:v>
                </c:pt>
                <c:pt idx="8">
                  <c:v>9월</c:v>
                </c:pt>
                <c:pt idx="9">
                  <c:v>10월</c:v>
                </c:pt>
                <c:pt idx="10">
                  <c:v>11월</c:v>
                </c:pt>
                <c:pt idx="11">
                  <c:v>12월</c:v>
                </c:pt>
              </c:strCache>
            </c:strRef>
          </c:cat>
          <c:val>
            <c:numRef>
              <c:f>'Chart Data'!$B$2:$B$13</c:f>
              <c:numCache>
                <c:formatCode>General</c:formatCode>
                <c:ptCount val="12"/>
                <c:pt idx="0">
                  <c:v>751200</c:v>
                </c:pt>
                <c:pt idx="1">
                  <c:v>780000</c:v>
                </c:pt>
                <c:pt idx="2">
                  <c:v>810000</c:v>
                </c:pt>
                <c:pt idx="3">
                  <c:v>1176000</c:v>
                </c:pt>
                <c:pt idx="4">
                  <c:v>1218000</c:v>
                </c:pt>
                <c:pt idx="5">
                  <c:v>1262400</c:v>
                </c:pt>
                <c:pt idx="6">
                  <c:v>1678800</c:v>
                </c:pt>
                <c:pt idx="7">
                  <c:v>1737600</c:v>
                </c:pt>
                <c:pt idx="8">
                  <c:v>1795200</c:v>
                </c:pt>
                <c:pt idx="9">
                  <c:v>2266800</c:v>
                </c:pt>
                <c:pt idx="10">
                  <c:v>2341200</c:v>
                </c:pt>
                <c:pt idx="11">
                  <c:v>2415600</c:v>
                </c:pt>
              </c:numCache>
            </c:numRef>
          </c:val>
        </c:ser>
        <c:ser>
          <c:idx val="1"/>
          <c:order val="1"/>
          <c:tx>
            <c:v>수정 전망</c:v>
          </c:tx>
          <c:spPr>
            <a:solidFill xmlns:a="http://schemas.openxmlformats.org/drawingml/2006/main">
              <a:srgbClr val="8FB69A"/>
            </a:solidFill>
          </c:spPr>
          <c:invertIfNegative val="0"/>
          <c:cat>
            <c:strRef>
              <c:f>'Chart Data'!$C$2:$C$13</c:f>
              <c:strCache>
                <c:ptCount val="12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  <c:pt idx="4">
                  <c:v>5월</c:v>
                </c:pt>
                <c:pt idx="5">
                  <c:v>6월</c:v>
                </c:pt>
                <c:pt idx="6">
                  <c:v>7월</c:v>
                </c:pt>
                <c:pt idx="7">
                  <c:v>8월</c:v>
                </c:pt>
                <c:pt idx="8">
                  <c:v>9월</c:v>
                </c:pt>
                <c:pt idx="9">
                  <c:v>10월</c:v>
                </c:pt>
                <c:pt idx="10">
                  <c:v>11월</c:v>
                </c:pt>
                <c:pt idx="11">
                  <c:v>12월</c:v>
                </c:pt>
              </c:strCache>
            </c:strRef>
          </c:cat>
          <c:val>
            <c:numRef>
              <c:f>'Chart Data'!$D$2:$D$13</c:f>
              <c:numCache>
                <c:formatCode>General</c:formatCode>
                <c:ptCount val="12"/>
                <c:pt idx="0">
                  <c:v>644300</c:v>
                </c:pt>
                <c:pt idx="1">
                  <c:v>685800</c:v>
                </c:pt>
                <c:pt idx="2">
                  <c:v>731300</c:v>
                </c:pt>
                <c:pt idx="3">
                  <c:v>1088800</c:v>
                </c:pt>
                <c:pt idx="4">
                  <c:v>1172000</c:v>
                </c:pt>
                <c:pt idx="5">
                  <c:v>1223200</c:v>
                </c:pt>
                <c:pt idx="6">
                  <c:v>1678800</c:v>
                </c:pt>
                <c:pt idx="7">
                  <c:v>1737600</c:v>
                </c:pt>
                <c:pt idx="8">
                  <c:v>1795200</c:v>
                </c:pt>
                <c:pt idx="9">
                  <c:v>2266800</c:v>
                </c:pt>
                <c:pt idx="10">
                  <c:v>2341200</c:v>
                </c:pt>
                <c:pt idx="11">
                  <c:v>2415600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Do Hyeon"/>
                  <a:ea typeface="Do Hyeon"/>
                  <a:cs typeface="Do Hyeon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Do Hyeon"/>
                <a:ea typeface="Do Hyeon"/>
                <a:cs typeface="Do Hyeon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Do Hyeon"/>
                <a:ea typeface="Do Hyeon"/>
                <a:cs typeface="Do Hyeon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Do Hyeon"/>
              <a:ea typeface="Do Hyeon"/>
              <a:cs typeface="Do Hyeon"/>
            </a:defRPr>
          </a:pPr>
        </a:p>
      </c:txPr>
    </c:legend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228320-E2F6-4529-9F00-E10793A5B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defPPr>
            <a:lvl1pPr>
              <a:defRPr sz="3225" b="1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1pPr>
            <a:lvl2pPr>
              <a:defRPr sz="3225" b="1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2pPr>
            <a:lvl3pPr>
              <a:defRPr sz="3225" b="1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3pPr>
            <a:lvl4pPr>
              <a:defRPr sz="3225" b="1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4pPr>
            <a:lvl5pPr>
              <a:defRPr sz="3225" b="1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5pPr>
            <a:lvl6pPr>
              <a:defRPr sz="3225" b="1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6pPr>
            <a:lvl7pPr>
              <a:defRPr sz="3225" b="1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7pPr>
            <a:lvl8pPr>
              <a:defRPr sz="3225" b="1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8pPr>
            <a:lvl9pPr>
              <a:defRPr sz="3225" b="1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pPr>
            <a:r>
              <a:rPr sz="3225" b="1">
                <a:solidFill>
                  <a:srgbClr val="173F33"/>
                </a:solidFill>
                <a:latin typeface="Do Hyeon"/>
                <a:ea typeface="Do Hyeon"/>
                <a:cs typeface="Do Hyeon"/>
              </a:rPr>
              <a:t>FootMate 플랫폼 운영과 수익성 개선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A9249C-0DF7-4ABD-AD78-875E8AF13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defPPr>
            <a:lvl1pPr>
              <a:defRPr sz="1875" b="0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1pPr>
            <a:lvl2pPr>
              <a:defRPr sz="1875" b="0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2pPr>
            <a:lvl3pPr>
              <a:defRPr sz="1875" b="0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3pPr>
            <a:lvl4pPr>
              <a:defRPr sz="1875" b="0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4pPr>
            <a:lvl5pPr>
              <a:defRPr sz="1875" b="0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5pPr>
            <a:lvl6pPr>
              <a:defRPr sz="1875" b="0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6pPr>
            <a:lvl7pPr>
              <a:defRPr sz="1875" b="0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7pPr>
            <a:lvl8pPr>
              <a:defRPr sz="1875" b="0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8pPr>
            <a:lvl9pPr>
              <a:defRPr sz="1875" b="0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pPr>
            <a:r>
              <a:rPr sz="1875" b="0">
                <a:solidFill>
                  <a:srgbClr val="173F33"/>
                </a:solidFill>
                <a:latin typeface="Do Hyeon"/>
                <a:ea typeface="Do Hyeon"/>
                <a:cs typeface="Do Hyeon"/>
              </a:rPr>
              <a:t>공급·참가·거래 데이터를 IT 투자와 운영 판단에 연결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8C1A3B-CBEE-4511-BB8D-AC230BD38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defPPr>
            <a:lvl1pPr>
              <a:defRPr sz="1275" b="0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1pPr>
            <a:lvl2pPr>
              <a:defRPr sz="1275" b="0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2pPr>
            <a:lvl3pPr>
              <a:defRPr sz="1275" b="0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3pPr>
            <a:lvl4pPr>
              <a:defRPr sz="1275" b="0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4pPr>
            <a:lvl5pPr>
              <a:defRPr sz="1275" b="0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5pPr>
            <a:lvl6pPr>
              <a:defRPr sz="1275" b="0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6pPr>
            <a:lvl7pPr>
              <a:defRPr sz="1275" b="0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7pPr>
            <a:lvl8pPr>
              <a:defRPr sz="1275" b="0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8pPr>
            <a:lvl9pPr>
              <a:defRPr sz="1275" b="0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pPr>
            <a:r>
              <a:rPr sz="1275" b="0">
                <a:solidFill>
                  <a:srgbClr val="173F33"/>
                </a:solidFill>
                <a:latin typeface="Do Hyeon"/>
                <a:ea typeface="Do Hyeon"/>
                <a:cs typeface="Do Hyeon"/>
              </a:rPr>
              <a:t>FootMate · 가정·합성 데이터 기반 / 실제 사업 실적 아님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88D70C-BE1C-4DF4-9697-5327E6FE3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109728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defPPr>
            <a:lvl1pPr>
              <a:defRPr sz="2625" b="1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1pPr>
            <a:lvl2pPr>
              <a:defRPr sz="2625" b="1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2pPr>
            <a:lvl3pPr>
              <a:defRPr sz="2625" b="1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3pPr>
            <a:lvl4pPr>
              <a:defRPr sz="2625" b="1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4pPr>
            <a:lvl5pPr>
              <a:defRPr sz="2625" b="1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5pPr>
            <a:lvl6pPr>
              <a:defRPr sz="2625" b="1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6pPr>
            <a:lvl7pPr>
              <a:defRPr sz="2625" b="1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7pPr>
            <a:lvl8pPr>
              <a:defRPr sz="2625" b="1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8pPr>
            <a:lvl9pPr>
              <a:defRPr sz="2625" b="1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pPr>
            <a:r>
              <a:rPr sz="2625" b="1">
                <a:solidFill>
                  <a:srgbClr val="173F33"/>
                </a:solidFill>
                <a:latin typeface="Do Hyeon"/>
                <a:ea typeface="Do Hyeon"/>
                <a:cs typeface="Do Hyeon"/>
              </a:rPr>
              <a:t>경유 예약과 원가 구조를 분리하고</a:t>
            </a:r>
          </a:p>
          <a:p xmlns:a="http://schemas.openxmlformats.org/drawingml/2006/main">
            <a:pPr>
              <a:defRPr sz="2625" b="1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pPr>
            <a:r>
              <a:rPr sz="2625" b="1">
                <a:solidFill>
                  <a:srgbClr val="173F33"/>
                </a:solidFill>
                <a:latin typeface="Do Hyeon"/>
                <a:ea typeface="Do Hyeon"/>
                <a:cs typeface="Do Hyeon"/>
              </a:rPr>
              <a:t>수수료·결제비 협상과 공급 확대 조건을 검토했습니다.</a:t>
            </a:r>
          </a:p>
        </p:txBody>
      </p:sp>
    </p:spTree>
    <p:extLst>
      <p:ext uri="{BB962C8B-B14F-4D97-AF65-F5344CB8AC3E}">
        <p14:creationId xmlns:p14="http://schemas.microsoft.com/office/powerpoint/2010/main" val="185882836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8DFCA8-3E24-42C6-84F3-598F41EAA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defPPr>
            <a:lvl1pPr>
              <a:defRPr sz="3225" b="1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1pPr>
            <a:lvl2pPr>
              <a:defRPr sz="3225" b="1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2pPr>
            <a:lvl3pPr>
              <a:defRPr sz="3225" b="1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3pPr>
            <a:lvl4pPr>
              <a:defRPr sz="3225" b="1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4pPr>
            <a:lvl5pPr>
              <a:defRPr sz="3225" b="1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5pPr>
            <a:lvl6pPr>
              <a:defRPr sz="3225" b="1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6pPr>
            <a:lvl7pPr>
              <a:defRPr sz="3225" b="1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7pPr>
            <a:lvl8pPr>
              <a:defRPr sz="3225" b="1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8pPr>
            <a:lvl9pPr>
              <a:defRPr sz="3225" b="1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pPr>
            <a:r>
              <a:rPr sz="3225" b="1">
                <a:solidFill>
                  <a:srgbClr val="173F33"/>
                </a:solidFill>
                <a:latin typeface="Do Hyeon"/>
                <a:ea typeface="Do Hyeon"/>
                <a:cs typeface="Do Hyeon"/>
              </a:rPr>
              <a:t>운영 모델과 책임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5BFE99-B9EC-4549-BC69-3DE41FBB2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defPPr>
            <a:lvl1pPr>
              <a:defRPr sz="1275" b="0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1pPr>
            <a:lvl2pPr>
              <a:defRPr sz="1275" b="0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2pPr>
            <a:lvl3pPr>
              <a:defRPr sz="1275" b="0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3pPr>
            <a:lvl4pPr>
              <a:defRPr sz="1275" b="0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4pPr>
            <a:lvl5pPr>
              <a:defRPr sz="1275" b="0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5pPr>
            <a:lvl6pPr>
              <a:defRPr sz="1275" b="0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6pPr>
            <a:lvl7pPr>
              <a:defRPr sz="1275" b="0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7pPr>
            <a:lvl8pPr>
              <a:defRPr sz="1275" b="0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8pPr>
            <a:lvl9pPr>
              <a:defRPr sz="1275" b="0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pPr>
            <a:r>
              <a:rPr sz="1275" b="0">
                <a:solidFill>
                  <a:srgbClr val="173F33"/>
                </a:solidFill>
                <a:latin typeface="Do Hyeon"/>
                <a:ea typeface="Do Hyeon"/>
                <a:cs typeface="Do Hyeon"/>
              </a:rPr>
              <a:t>FootMate · 가정·합성 데이터 기반 / 실제 사업 실적 아님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6E384F-371C-4388-A094-120CA02C2F42}"/>
              </a:ext>
            </a:extLst>
          </p:cNvPr>
          <p:cNvGraphicFramePr/>
          <p:nvPr/>
        </p:nvGraphicFramePr>
        <p:xfrm>
          <a:off xmlns:a="http://schemas.openxmlformats.org/drawingml/2006/main" x="609600" y="2238375"/>
          <a:ext xmlns:a="http://schemas.openxmlformats.org/drawingml/2006/main" cx="10972800" cy="2400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486400"/>
                <a:gridCol w="5486400"/>
              </a:tblGrid>
              <a:tr h="6000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o Hyeon"/>
                          <a:ea typeface="Do Hyeon"/>
                          <a:cs typeface="Do Hyeon"/>
                        </a:rPr>
                        <a:t>주체</a:t>
                      </a:r>
                    </a:p>
                  </a:txBody>
                  <a:tcPr marL="91440" marR="91440" marT="45720" marB="45720">
                    <a:solidFill>
                      <a:srgbClr val="173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o Hyeon"/>
                          <a:ea typeface="Do Hyeon"/>
                          <a:cs typeface="Do Hyeon"/>
                        </a:rPr>
                        <a:t>관리 과제</a:t>
                      </a:r>
                    </a:p>
                  </a:txBody>
                  <a:tcPr marL="91440" marR="91440" marT="45720" marB="45720">
                    <a:solidFill>
                      <a:srgbClr val="173F33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F33"/>
                          </a:solidFill>
                          <a:latin typeface="Do Hyeon"/>
                          <a:ea typeface="Do Hyeon"/>
                          <a:cs typeface="Do Hyeon"/>
                        </a:rPr>
                        <a:t>플랫폼</a:t>
                      </a:r>
                    </a:p>
                  </a:txBody>
                  <a:tcPr marL="91440" marR="91440" marT="45720" marB="45720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F33"/>
                          </a:solidFill>
                          <a:latin typeface="Do Hyeon"/>
                          <a:ea typeface="Do Hyeon"/>
                          <a:cs typeface="Do Hyeon"/>
                        </a:rPr>
                        <a:t>경기 노출·참가·문의·정산 대사</a:t>
                      </a:r>
                    </a:p>
                  </a:txBody>
                  <a:tcPr marL="91440" marR="91440" marT="45720" marB="45720">
                    <a:solidFill>
                      <a:srgbClr val="F2F6F4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F33"/>
                          </a:solidFill>
                          <a:latin typeface="Do Hyeon"/>
                          <a:ea typeface="Do Hyeon"/>
                          <a:cs typeface="Do Hyeon"/>
                        </a:rPr>
                        <a:t>운영자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F33"/>
                          </a:solidFill>
                          <a:latin typeface="Do Hyeon"/>
                          <a:ea typeface="Do Hyeon"/>
                          <a:cs typeface="Do Hyeon"/>
                        </a:rPr>
                        <a:t>정원 정보·현장 진행·취소 결정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F33"/>
                          </a:solidFill>
                          <a:latin typeface="Do Hyeon"/>
                          <a:ea typeface="Do Hyeon"/>
                          <a:cs typeface="Do Hyeon"/>
                        </a:rPr>
                        <a:t>참가자</a:t>
                      </a:r>
                    </a:p>
                  </a:txBody>
                  <a:tcPr marL="91440" marR="91440" marT="45720" marB="45720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F33"/>
                          </a:solidFill>
                          <a:latin typeface="Do Hyeon"/>
                          <a:ea typeface="Do Hyeon"/>
                          <a:cs typeface="Do Hyeon"/>
                        </a:rPr>
                        <a:t>조건 확인·참가 확정·출석</a:t>
                      </a:r>
                    </a:p>
                  </a:txBody>
                  <a:tcPr marL="91440" marR="91440" marT="45720" marB="45720">
                    <a:solidFill>
                      <a:srgbClr val="F2F6F4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1545049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FAEF24-5CA9-4BC4-8556-F133D3ED3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defPPr>
            <a:lvl1pPr>
              <a:defRPr sz="3225" b="1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1pPr>
            <a:lvl2pPr>
              <a:defRPr sz="3225" b="1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2pPr>
            <a:lvl3pPr>
              <a:defRPr sz="3225" b="1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3pPr>
            <a:lvl4pPr>
              <a:defRPr sz="3225" b="1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4pPr>
            <a:lvl5pPr>
              <a:defRPr sz="3225" b="1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5pPr>
            <a:lvl6pPr>
              <a:defRPr sz="3225" b="1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6pPr>
            <a:lvl7pPr>
              <a:defRPr sz="3225" b="1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7pPr>
            <a:lvl8pPr>
              <a:defRPr sz="3225" b="1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8pPr>
            <a:lvl9pPr>
              <a:defRPr sz="3225" b="1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pPr>
            <a:r>
              <a:rPr sz="3225" b="1">
                <a:solidFill>
                  <a:srgbClr val="173F33"/>
                </a:solidFill>
                <a:latin typeface="Do Hyeon"/>
                <a:ea typeface="Do Hyeon"/>
                <a:cs typeface="Do Hyeon"/>
              </a:rPr>
              <a:t>플랫폼 경유 완료 예약은 월 626건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18FAB0-6A42-4574-A589-024A3C888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defPPr>
            <a:lvl1pPr>
              <a:defRPr sz="1875" b="0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1pPr>
            <a:lvl2pPr>
              <a:defRPr sz="1875" b="0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2pPr>
            <a:lvl3pPr>
              <a:defRPr sz="1875" b="0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3pPr>
            <a:lvl4pPr>
              <a:defRPr sz="1875" b="0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4pPr>
            <a:lvl5pPr>
              <a:defRPr sz="1875" b="0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5pPr>
            <a:lvl6pPr>
              <a:defRPr sz="1875" b="0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6pPr>
            <a:lvl7pPr>
              <a:defRPr sz="1875" b="0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7pPr>
            <a:lvl8pPr>
              <a:defRPr sz="1875" b="0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8pPr>
            <a:lvl9pPr>
              <a:defRPr sz="1875" b="0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pPr>
            <a:r>
              <a:rPr sz="1875" b="0">
                <a:solidFill>
                  <a:srgbClr val="173F33"/>
                </a:solidFill>
                <a:latin typeface="Do Hyeon"/>
                <a:ea typeface="Do Hyeon"/>
                <a:cs typeface="Do Hyeon"/>
              </a:rPr>
              <a:t>전체 정원과 수익 대상 거래를 구분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B028E2-5D0C-4F4C-99A9-BD6B53F34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defPPr>
            <a:lvl1pPr>
              <a:defRPr sz="1275" b="0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1pPr>
            <a:lvl2pPr>
              <a:defRPr sz="1275" b="0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2pPr>
            <a:lvl3pPr>
              <a:defRPr sz="1275" b="0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3pPr>
            <a:lvl4pPr>
              <a:defRPr sz="1275" b="0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4pPr>
            <a:lvl5pPr>
              <a:defRPr sz="1275" b="0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5pPr>
            <a:lvl6pPr>
              <a:defRPr sz="1275" b="0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6pPr>
            <a:lvl7pPr>
              <a:defRPr sz="1275" b="0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7pPr>
            <a:lvl8pPr>
              <a:defRPr sz="1275" b="0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8pPr>
            <a:lvl9pPr>
              <a:defRPr sz="1275" b="0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pPr>
            <a:r>
              <a:rPr sz="1275" b="0">
                <a:solidFill>
                  <a:srgbClr val="173F33"/>
                </a:solidFill>
                <a:latin typeface="Do Hyeon"/>
                <a:ea typeface="Do Hyeon"/>
                <a:cs typeface="Do Hyeon"/>
              </a:rPr>
              <a:t>FootMate · 가정·합성 데이터 기반 / 실제 사업 실적 아님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F0FD92-8CEF-42DF-B77F-76967D49659F}"/>
              </a:ext>
            </a:extLst>
          </p:cNvPr>
          <p:cNvGraphicFramePr/>
          <p:nvPr/>
        </p:nvGraphicFramePr>
        <p:xfrm>
          <a:off xmlns:a="http://schemas.openxmlformats.org/drawingml/2006/main" x="609600" y="2238375"/>
          <a:ext xmlns:a="http://schemas.openxmlformats.org/drawingml/2006/main" cx="10972800" cy="120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  <a:gridCol w="1828800"/>
                <a:gridCol w="1828800"/>
                <a:gridCol w="1828800"/>
              </a:tblGrid>
              <a:tr h="6000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o Hyeon"/>
                          <a:ea typeface="Do Hyeon"/>
                          <a:cs typeface="Do Hyeon"/>
                        </a:rPr>
                        <a:t>정원</a:t>
                      </a:r>
                    </a:p>
                  </a:txBody>
                  <a:tcPr marL="91440" marR="91440" marT="45720" marB="45720">
                    <a:solidFill>
                      <a:srgbClr val="173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o Hyeon"/>
                          <a:ea typeface="Do Hyeon"/>
                          <a:cs typeface="Do Hyeon"/>
                        </a:rPr>
                        <a:t>충원율</a:t>
                      </a:r>
                    </a:p>
                  </a:txBody>
                  <a:tcPr marL="91440" marR="91440" marT="45720" marB="45720">
                    <a:solidFill>
                      <a:srgbClr val="173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o Hyeon"/>
                          <a:ea typeface="Do Hyeon"/>
                          <a:cs typeface="Do Hyeon"/>
                        </a:rPr>
                        <a:t>경유율</a:t>
                      </a:r>
                    </a:p>
                  </a:txBody>
                  <a:tcPr marL="91440" marR="91440" marT="45720" marB="45720">
                    <a:solidFill>
                      <a:srgbClr val="173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o Hyeon"/>
                          <a:ea typeface="Do Hyeon"/>
                          <a:cs typeface="Do Hyeon"/>
                        </a:rPr>
                        <a:t>취소 후</a:t>
                      </a:r>
                    </a:p>
                  </a:txBody>
                  <a:tcPr marL="91440" marR="91440" marT="45720" marB="45720">
                    <a:solidFill>
                      <a:srgbClr val="173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o Hyeon"/>
                          <a:ea typeface="Do Hyeon"/>
                          <a:cs typeface="Do Hyeon"/>
                        </a:rPr>
                        <a:t>완료율</a:t>
                      </a:r>
                    </a:p>
                  </a:txBody>
                  <a:tcPr marL="91440" marR="91440" marT="45720" marB="45720">
                    <a:solidFill>
                      <a:srgbClr val="173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o Hyeon"/>
                          <a:ea typeface="Do Hyeon"/>
                          <a:cs typeface="Do Hyeon"/>
                        </a:rPr>
                        <a:t>완료</a:t>
                      </a:r>
                    </a:p>
                  </a:txBody>
                  <a:tcPr marL="91440" marR="91440" marT="45720" marB="45720">
                    <a:solidFill>
                      <a:srgbClr val="173F33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F33"/>
                          </a:solidFill>
                          <a:latin typeface="Do Hyeon"/>
                          <a:ea typeface="Do Hyeon"/>
                          <a:cs typeface="Do Hyeon"/>
                        </a:rPr>
                        <a:t>1,558.8석</a:t>
                      </a:r>
                    </a:p>
                  </a:txBody>
                  <a:tcPr marL="91440" marR="91440" marT="45720" marB="45720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F33"/>
                          </a:solidFill>
                          <a:latin typeface="Do Hyeon"/>
                          <a:ea typeface="Do Hyeon"/>
                          <a:cs typeface="Do Hyeon"/>
                        </a:rPr>
                        <a:t>75%</a:t>
                      </a:r>
                    </a:p>
                  </a:txBody>
                  <a:tcPr marL="91440" marR="91440" marT="45720" marB="45720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F33"/>
                          </a:solidFill>
                          <a:latin typeface="Do Hyeon"/>
                          <a:ea typeface="Do Hyeon"/>
                          <a:cs typeface="Do Hyeon"/>
                        </a:rPr>
                        <a:t>60%</a:t>
                      </a:r>
                    </a:p>
                  </a:txBody>
                  <a:tcPr marL="91440" marR="91440" marT="45720" marB="45720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F33"/>
                          </a:solidFill>
                          <a:latin typeface="Do Hyeon"/>
                          <a:ea typeface="Do Hyeon"/>
                          <a:cs typeface="Do Hyeon"/>
                        </a:rPr>
                        <a:t>92%</a:t>
                      </a:r>
                    </a:p>
                  </a:txBody>
                  <a:tcPr marL="91440" marR="91440" marT="45720" marB="45720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F33"/>
                          </a:solidFill>
                          <a:latin typeface="Do Hyeon"/>
                          <a:ea typeface="Do Hyeon"/>
                          <a:cs typeface="Do Hyeon"/>
                        </a:rPr>
                        <a:t>97%</a:t>
                      </a:r>
                    </a:p>
                  </a:txBody>
                  <a:tcPr marL="91440" marR="91440" marT="45720" marB="45720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F33"/>
                          </a:solidFill>
                          <a:latin typeface="Do Hyeon"/>
                          <a:ea typeface="Do Hyeon"/>
                          <a:cs typeface="Do Hyeon"/>
                        </a:rPr>
                        <a:t>626건</a:t>
                      </a:r>
                    </a:p>
                  </a:txBody>
                  <a:tcPr marL="91440" marR="91440" marT="45720" marB="45720">
                    <a:solidFill>
                      <a:srgbClr val="F2F6F4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96FBA3-E37B-49E1-B3D2-50872E75F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defPPr>
            <a:lvl1pPr>
              <a:defRPr sz="2325" b="1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1pPr>
            <a:lvl2pPr>
              <a:defRPr sz="2325" b="1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2pPr>
            <a:lvl3pPr>
              <a:defRPr sz="2325" b="1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3pPr>
            <a:lvl4pPr>
              <a:defRPr sz="2325" b="1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4pPr>
            <a:lvl5pPr>
              <a:defRPr sz="2325" b="1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5pPr>
            <a:lvl6pPr>
              <a:defRPr sz="2325" b="1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6pPr>
            <a:lvl7pPr>
              <a:defRPr sz="2325" b="1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7pPr>
            <a:lvl8pPr>
              <a:defRPr sz="2325" b="1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8pPr>
            <a:lvl9pPr>
              <a:defRPr sz="2325" b="1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pPr>
            <a:r>
              <a:rPr sz="2325" b="1">
                <a:solidFill>
                  <a:srgbClr val="173F33"/>
                </a:solidFill>
                <a:latin typeface="Do Hyeon"/>
                <a:ea typeface="Do Hyeon"/>
                <a:cs typeface="Do Hyeon"/>
              </a:rPr>
              <a:t>수수료 매출 751,200원 / 노동비용 포함 손익 −2,387,160원</a:t>
            </a:r>
          </a:p>
        </p:txBody>
      </p:sp>
    </p:spTree>
    <p:extLst>
      <p:ext uri="{BB962C8B-B14F-4D97-AF65-F5344CB8AC3E}">
        <p14:creationId xmlns:p14="http://schemas.microsoft.com/office/powerpoint/2010/main" val="188886987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D0CD55-3112-4CDA-BC57-09102384D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defPPr>
            <a:lvl1pPr>
              <a:defRPr sz="3225" b="1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1pPr>
            <a:lvl2pPr>
              <a:defRPr sz="3225" b="1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2pPr>
            <a:lvl3pPr>
              <a:defRPr sz="3225" b="1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3pPr>
            <a:lvl4pPr>
              <a:defRPr sz="3225" b="1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4pPr>
            <a:lvl5pPr>
              <a:defRPr sz="3225" b="1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5pPr>
            <a:lvl6pPr>
              <a:defRPr sz="3225" b="1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6pPr>
            <a:lvl7pPr>
              <a:defRPr sz="3225" b="1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7pPr>
            <a:lvl8pPr>
              <a:defRPr sz="3225" b="1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8pPr>
            <a:lvl9pPr>
              <a:defRPr sz="3225" b="1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pPr>
            <a:r>
              <a:rPr sz="3225" b="1">
                <a:solidFill>
                  <a:srgbClr val="173F33"/>
                </a:solidFill>
                <a:latin typeface="Do Hyeon"/>
                <a:ea typeface="Do Hyeon"/>
                <a:cs typeface="Do Hyeon"/>
              </a:rPr>
              <a:t>수익성 개선안과 협상 우선순위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1C081F-7230-412E-9915-14FC4691A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defPPr>
            <a:lvl1pPr>
              <a:defRPr sz="1275" b="0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1pPr>
            <a:lvl2pPr>
              <a:defRPr sz="1275" b="0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2pPr>
            <a:lvl3pPr>
              <a:defRPr sz="1275" b="0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3pPr>
            <a:lvl4pPr>
              <a:defRPr sz="1275" b="0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4pPr>
            <a:lvl5pPr>
              <a:defRPr sz="1275" b="0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5pPr>
            <a:lvl6pPr>
              <a:defRPr sz="1275" b="0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6pPr>
            <a:lvl7pPr>
              <a:defRPr sz="1275" b="0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7pPr>
            <a:lvl8pPr>
              <a:defRPr sz="1275" b="0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8pPr>
            <a:lvl9pPr>
              <a:defRPr sz="1275" b="0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pPr>
            <a:r>
              <a:rPr sz="1275" b="0">
                <a:solidFill>
                  <a:srgbClr val="173F33"/>
                </a:solidFill>
                <a:latin typeface="Do Hyeon"/>
                <a:ea typeface="Do Hyeon"/>
                <a:cs typeface="Do Hyeon"/>
              </a:rPr>
              <a:t>FootMate · 가정·합성 데이터 기반 / 실제 사업 실적 아님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8E3EB3-FA98-4A5F-B325-F14A573B91F1}"/>
              </a:ext>
            </a:extLst>
          </p:cNvPr>
          <p:cNvGraphicFramePr/>
          <p:nvPr/>
        </p:nvGraphicFramePr>
        <p:xfrm>
          <a:off xmlns:a="http://schemas.openxmlformats.org/drawingml/2006/main" x="609600" y="2238375"/>
          <a:ext xmlns:a="http://schemas.openxmlformats.org/drawingml/2006/main" cx="10972800" cy="3000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6000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o Hyeon"/>
                          <a:ea typeface="Do Hyeon"/>
                          <a:cs typeface="Do Hyeon"/>
                        </a:rPr>
                        <a:t>대안</a:t>
                      </a:r>
                    </a:p>
                  </a:txBody>
                  <a:tcPr marL="91440" marR="91440" marT="45720" marB="45720">
                    <a:solidFill>
                      <a:srgbClr val="173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o Hyeon"/>
                          <a:ea typeface="Do Hyeon"/>
                          <a:cs typeface="Do Hyeon"/>
                        </a:rPr>
                        <a:t>공헌이익/건</a:t>
                      </a:r>
                    </a:p>
                  </a:txBody>
                  <a:tcPr marL="91440" marR="91440" marT="45720" marB="45720">
                    <a:solidFill>
                      <a:srgbClr val="173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o Hyeon"/>
                          <a:ea typeface="Do Hyeon"/>
                          <a:cs typeface="Do Hyeon"/>
                        </a:rPr>
                        <a:t>손익분기 예약/월</a:t>
                      </a:r>
                    </a:p>
                  </a:txBody>
                  <a:tcPr marL="91440" marR="91440" marT="45720" marB="45720">
                    <a:solidFill>
                      <a:srgbClr val="173F33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F33"/>
                          </a:solidFill>
                          <a:latin typeface="Do Hyeon"/>
                          <a:ea typeface="Do Hyeon"/>
                          <a:cs typeface="Do Hyeon"/>
                        </a:rPr>
                        <a:t>기준</a:t>
                      </a:r>
                    </a:p>
                  </a:txBody>
                  <a:tcPr marL="91440" marR="91440" marT="45720" marB="45720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F33"/>
                          </a:solidFill>
                          <a:latin typeface="Do Hyeon"/>
                          <a:ea typeface="Do Hyeon"/>
                          <a:cs typeface="Do Hyeon"/>
                        </a:rPr>
                        <a:t>340원</a:t>
                      </a:r>
                    </a:p>
                  </a:txBody>
                  <a:tcPr marL="91440" marR="91440" marT="45720" marB="45720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F33"/>
                          </a:solidFill>
                          <a:latin typeface="Do Hyeon"/>
                          <a:ea typeface="Do Hyeon"/>
                          <a:cs typeface="Do Hyeon"/>
                        </a:rPr>
                        <a:t>7,648건</a:t>
                      </a:r>
                    </a:p>
                  </a:txBody>
                  <a:tcPr marL="91440" marR="91440" marT="45720" marB="45720">
                    <a:solidFill>
                      <a:srgbClr val="F2F6F4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F33"/>
                          </a:solidFill>
                          <a:latin typeface="Do Hyeon"/>
                          <a:ea typeface="Do Hyeon"/>
                          <a:cs typeface="Do Hyeon"/>
                        </a:rPr>
                        <a:t>수수료 12%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F33"/>
                          </a:solidFill>
                          <a:latin typeface="Do Hyeon"/>
                          <a:ea typeface="Do Hyeon"/>
                          <a:cs typeface="Do Hyeon"/>
                        </a:rPr>
                        <a:t>580원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F33"/>
                          </a:solidFill>
                          <a:latin typeface="Do Hyeon"/>
                          <a:ea typeface="Do Hyeon"/>
                          <a:cs typeface="Do Hyeon"/>
                        </a:rPr>
                        <a:t>4,483건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F33"/>
                          </a:solidFill>
                          <a:latin typeface="Do Hyeon"/>
                          <a:ea typeface="Do Hyeon"/>
                          <a:cs typeface="Do Hyeon"/>
                        </a:rPr>
                        <a:t>결제비 운영자 부담</a:t>
                      </a:r>
                    </a:p>
                  </a:txBody>
                  <a:tcPr marL="91440" marR="91440" marT="45720" marB="45720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F33"/>
                          </a:solidFill>
                          <a:latin typeface="Do Hyeon"/>
                          <a:ea typeface="Do Hyeon"/>
                          <a:cs typeface="Do Hyeon"/>
                        </a:rPr>
                        <a:t>700원</a:t>
                      </a:r>
                    </a:p>
                  </a:txBody>
                  <a:tcPr marL="91440" marR="91440" marT="45720" marB="45720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F33"/>
                          </a:solidFill>
                          <a:latin typeface="Do Hyeon"/>
                          <a:ea typeface="Do Hyeon"/>
                          <a:cs typeface="Do Hyeon"/>
                        </a:rPr>
                        <a:t>3,715건</a:t>
                      </a:r>
                    </a:p>
                  </a:txBody>
                  <a:tcPr marL="91440" marR="91440" marT="45720" marB="45720">
                    <a:solidFill>
                      <a:srgbClr val="F2F6F4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F33"/>
                          </a:solidFill>
                          <a:latin typeface="Do Hyeon"/>
                          <a:ea typeface="Do Hyeon"/>
                          <a:cs typeface="Do Hyeon"/>
                        </a:rPr>
                        <a:t>복합 협상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F33"/>
                          </a:solidFill>
                          <a:latin typeface="Do Hyeon"/>
                          <a:ea typeface="Do Hyeon"/>
                          <a:cs typeface="Do Hyeon"/>
                        </a:rPr>
                        <a:t>940원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F33"/>
                          </a:solidFill>
                          <a:latin typeface="Do Hyeon"/>
                          <a:ea typeface="Do Hyeon"/>
                          <a:cs typeface="Do Hyeon"/>
                        </a:rPr>
                        <a:t>2,766건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D44B37-ED69-4513-8813-B276A1685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defPPr>
            <a:lvl1pPr>
              <a:defRPr sz="2025" b="1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1pPr>
            <a:lvl2pPr>
              <a:defRPr sz="2025" b="1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2pPr>
            <a:lvl3pPr>
              <a:defRPr sz="2025" b="1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3pPr>
            <a:lvl4pPr>
              <a:defRPr sz="2025" b="1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4pPr>
            <a:lvl5pPr>
              <a:defRPr sz="2025" b="1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5pPr>
            <a:lvl6pPr>
              <a:defRPr sz="2025" b="1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6pPr>
            <a:lvl7pPr>
              <a:defRPr sz="2025" b="1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7pPr>
            <a:lvl8pPr>
              <a:defRPr sz="2025" b="1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8pPr>
            <a:lvl9pPr>
              <a:defRPr sz="2025" b="1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pPr>
            <a:r>
              <a:rPr sz="2025" b="1">
                <a:solidFill>
                  <a:srgbClr val="173F33"/>
                </a:solidFill>
                <a:latin typeface="Do Hyeon"/>
                <a:ea typeface="Do Hyeon"/>
                <a:cs typeface="Do Hyeon"/>
              </a:rPr>
              <a:t>복합 협상 시 동일 조건의 공급처 약 23곳 필요</a:t>
            </a:r>
          </a:p>
        </p:txBody>
      </p:sp>
    </p:spTree>
    <p:extLst>
      <p:ext uri="{BB962C8B-B14F-4D97-AF65-F5344CB8AC3E}">
        <p14:creationId xmlns:p14="http://schemas.microsoft.com/office/powerpoint/2010/main" val="10618115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2F9C0F-1589-42D7-83C9-9423A38D0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defPPr>
            <a:lvl1pPr>
              <a:defRPr sz="3225" b="1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1pPr>
            <a:lvl2pPr>
              <a:defRPr sz="3225" b="1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2pPr>
            <a:lvl3pPr>
              <a:defRPr sz="3225" b="1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3pPr>
            <a:lvl4pPr>
              <a:defRPr sz="3225" b="1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4pPr>
            <a:lvl5pPr>
              <a:defRPr sz="3225" b="1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5pPr>
            <a:lvl6pPr>
              <a:defRPr sz="3225" b="1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6pPr>
            <a:lvl7pPr>
              <a:defRPr sz="3225" b="1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7pPr>
            <a:lvl8pPr>
              <a:defRPr sz="3225" b="1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8pPr>
            <a:lvl9pPr>
              <a:defRPr sz="3225" b="1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pPr>
            <a:r>
              <a:rPr sz="3225" b="1">
                <a:solidFill>
                  <a:srgbClr val="173F33"/>
                </a:solidFill>
                <a:latin typeface="Do Hyeon"/>
                <a:ea typeface="Do Hyeon"/>
                <a:cs typeface="Do Hyeon"/>
              </a:rPr>
              <a:t>월간 성과관리와 수정 전망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B9D99D-9F87-4BCE-AFCC-2D8865205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defPPr>
            <a:lvl1pPr>
              <a:defRPr sz="1275" b="0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1pPr>
            <a:lvl2pPr>
              <a:defRPr sz="1275" b="0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2pPr>
            <a:lvl3pPr>
              <a:defRPr sz="1275" b="0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3pPr>
            <a:lvl4pPr>
              <a:defRPr sz="1275" b="0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4pPr>
            <a:lvl5pPr>
              <a:defRPr sz="1275" b="0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5pPr>
            <a:lvl6pPr>
              <a:defRPr sz="1275" b="0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6pPr>
            <a:lvl7pPr>
              <a:defRPr sz="1275" b="0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7pPr>
            <a:lvl8pPr>
              <a:defRPr sz="1275" b="0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8pPr>
            <a:lvl9pPr>
              <a:defRPr sz="1275" b="0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pPr>
            <a:r>
              <a:rPr sz="1275" b="0">
                <a:solidFill>
                  <a:srgbClr val="173F33"/>
                </a:solidFill>
                <a:latin typeface="Do Hyeon"/>
                <a:ea typeface="Do Hyeon"/>
                <a:cs typeface="Do Hyeon"/>
              </a:rPr>
              <a:t>FootMate · 가정·합성 데이터 기반 / 실제 사업 실적 아님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237466A2-2614-43A8-ABAF-A8E42DB14E81}"/>
              </a:ext>
            </a:extLst>
          </p:cNvPr>
          <p:cNvGraphicFramePr/>
          <p:nvPr/>
        </p:nvGraphicFramePr>
        <p:xfrm>
          <a:off xmlns:a="http://schemas.openxmlformats.org/drawingml/2006/main" x="609600" y="2190750"/>
          <a:ext xmlns:a="http://schemas.openxmlformats.org/drawingml/2006/main" cx="10972800" cy="3476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24f7d8a8a4a4c07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E2D858-A152-4B07-B8CD-4F3184C03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defPPr>
            <a:lvl1pPr>
              <a:defRPr sz="1725" b="0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1pPr>
            <a:lvl2pPr>
              <a:defRPr sz="1725" b="0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2pPr>
            <a:lvl3pPr>
              <a:defRPr sz="1725" b="0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3pPr>
            <a:lvl4pPr>
              <a:defRPr sz="1725" b="0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4pPr>
            <a:lvl5pPr>
              <a:defRPr sz="1725" b="0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5pPr>
            <a:lvl6pPr>
              <a:defRPr sz="1725" b="0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6pPr>
            <a:lvl7pPr>
              <a:defRPr sz="1725" b="0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7pPr>
            <a:lvl8pPr>
              <a:defRPr sz="1725" b="0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8pPr>
            <a:lvl9pPr>
              <a:defRPr sz="1725" b="0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pPr>
            <a:r>
              <a:rPr sz="1725" b="0">
                <a:solidFill>
                  <a:srgbClr val="173F33"/>
                </a:solidFill>
                <a:latin typeface="Do Hyeon"/>
                <a:ea typeface="Do Hyeon"/>
                <a:cs typeface="Do Hyeon"/>
              </a:rPr>
              <a:t>상반기 합성 실적과 하반기 계획을 연결한 예측</a:t>
            </a:r>
          </a:p>
        </p:txBody>
      </p:sp>
    </p:spTree>
    <p:extLst>
      <p:ext uri="{BB962C8B-B14F-4D97-AF65-F5344CB8AC3E}">
        <p14:creationId xmlns:p14="http://schemas.microsoft.com/office/powerpoint/2010/main" val="69755590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5FCD23-ACA9-41AD-A370-1445098D9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defPPr>
            <a:lvl1pPr>
              <a:defRPr sz="3225" b="1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1pPr>
            <a:lvl2pPr>
              <a:defRPr sz="3225" b="1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2pPr>
            <a:lvl3pPr>
              <a:defRPr sz="3225" b="1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3pPr>
            <a:lvl4pPr>
              <a:defRPr sz="3225" b="1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4pPr>
            <a:lvl5pPr>
              <a:defRPr sz="3225" b="1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5pPr>
            <a:lvl6pPr>
              <a:defRPr sz="3225" b="1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6pPr>
            <a:lvl7pPr>
              <a:defRPr sz="3225" b="1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7pPr>
            <a:lvl8pPr>
              <a:defRPr sz="3225" b="1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8pPr>
            <a:lvl9pPr>
              <a:defRPr sz="3225" b="1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pPr>
            <a:r>
              <a:rPr sz="3225" b="1">
                <a:solidFill>
                  <a:srgbClr val="173F33"/>
                </a:solidFill>
                <a:latin typeface="Do Hyeon"/>
                <a:ea typeface="Do Hyeon"/>
                <a:cs typeface="Do Hyeon"/>
              </a:rPr>
              <a:t>손익 차이를 물량·단가·비용으로 설명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C8412F-C8B6-4DF2-B37D-592BEE967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defPPr>
            <a:lvl1pPr>
              <a:defRPr sz="1275" b="0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1pPr>
            <a:lvl2pPr>
              <a:defRPr sz="1275" b="0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2pPr>
            <a:lvl3pPr>
              <a:defRPr sz="1275" b="0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3pPr>
            <a:lvl4pPr>
              <a:defRPr sz="1275" b="0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4pPr>
            <a:lvl5pPr>
              <a:defRPr sz="1275" b="0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5pPr>
            <a:lvl6pPr>
              <a:defRPr sz="1275" b="0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6pPr>
            <a:lvl7pPr>
              <a:defRPr sz="1275" b="0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7pPr>
            <a:lvl8pPr>
              <a:defRPr sz="1275" b="0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8pPr>
            <a:lvl9pPr>
              <a:defRPr sz="1275" b="0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pPr>
            <a:r>
              <a:rPr sz="1275" b="0">
                <a:solidFill>
                  <a:srgbClr val="173F33"/>
                </a:solidFill>
                <a:latin typeface="Do Hyeon"/>
                <a:ea typeface="Do Hyeon"/>
                <a:cs typeface="Do Hyeon"/>
              </a:rPr>
              <a:t>FootMate · 가정·합성 데이터 기반 / 실제 사업 실적 아님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1FB808-3870-4FEA-9C69-DF84C44C0203}"/>
              </a:ext>
            </a:extLst>
          </p:cNvPr>
          <p:cNvGraphicFramePr/>
          <p:nvPr/>
        </p:nvGraphicFramePr>
        <p:xfrm>
          <a:off xmlns:a="http://schemas.openxmlformats.org/drawingml/2006/main" x="609600" y="2238375"/>
          <a:ext xmlns:a="http://schemas.openxmlformats.org/drawingml/2006/main" cx="10972800" cy="3000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6000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o Hyeon"/>
                          <a:ea typeface="Do Hyeon"/>
                          <a:cs typeface="Do Hyeon"/>
                        </a:rPr>
                        <a:t>6월 차이</a:t>
                      </a:r>
                    </a:p>
                  </a:txBody>
                  <a:tcPr marL="91440" marR="91440" marT="45720" marB="45720">
                    <a:solidFill>
                      <a:srgbClr val="173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o Hyeon"/>
                          <a:ea typeface="Do Hyeon"/>
                          <a:cs typeface="Do Hyeon"/>
                        </a:rPr>
                        <a:t>손익 영향</a:t>
                      </a:r>
                    </a:p>
                  </a:txBody>
                  <a:tcPr marL="91440" marR="91440" marT="45720" marB="45720">
                    <a:solidFill>
                      <a:srgbClr val="173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o Hyeon"/>
                          <a:ea typeface="Do Hyeon"/>
                          <a:cs typeface="Do Hyeon"/>
                        </a:rPr>
                        <a:t>운영 조치</a:t>
                      </a:r>
                    </a:p>
                  </a:txBody>
                  <a:tcPr marL="91440" marR="91440" marT="45720" marB="45720">
                    <a:solidFill>
                      <a:srgbClr val="173F33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F33"/>
                          </a:solidFill>
                          <a:latin typeface="Do Hyeon"/>
                          <a:ea typeface="Do Hyeon"/>
                          <a:cs typeface="Do Hyeon"/>
                        </a:rPr>
                        <a:t>완료 물량</a:t>
                      </a:r>
                    </a:p>
                  </a:txBody>
                  <a:tcPr marL="91440" marR="91440" marT="45720" marB="45720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F33"/>
                          </a:solidFill>
                          <a:latin typeface="Do Hyeon"/>
                          <a:ea typeface="Do Hyeon"/>
                          <a:cs typeface="Do Hyeon"/>
                        </a:rPr>
                        <a:t>-39,600원</a:t>
                      </a:r>
                    </a:p>
                  </a:txBody>
                  <a:tcPr marL="91440" marR="91440" marT="45720" marB="45720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F33"/>
                          </a:solidFill>
                          <a:latin typeface="Do Hyeon"/>
                          <a:ea typeface="Do Hyeon"/>
                          <a:cs typeface="Do Hyeon"/>
                        </a:rPr>
                        <a:t>경유·취소·완료율 점검</a:t>
                      </a:r>
                    </a:p>
                  </a:txBody>
                  <a:tcPr marL="91440" marR="91440" marT="45720" marB="45720">
                    <a:solidFill>
                      <a:srgbClr val="F2F6F4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F33"/>
                          </a:solidFill>
                          <a:latin typeface="Do Hyeon"/>
                          <a:ea typeface="Do Hyeon"/>
                          <a:cs typeface="Do Hyeon"/>
                        </a:rPr>
                        <a:t>수수료 단가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F33"/>
                          </a:solidFill>
                          <a:latin typeface="Do Hyeon"/>
                          <a:ea typeface="Do Hyeon"/>
                          <a:cs typeface="Do Hyeon"/>
                        </a:rPr>
                        <a:t>400원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F33"/>
                          </a:solidFill>
                          <a:latin typeface="Do Hyeon"/>
                          <a:ea typeface="Do Hyeon"/>
                          <a:cs typeface="Do Hyeon"/>
                        </a:rPr>
                        <a:t>가격·수수료 대사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F33"/>
                          </a:solidFill>
                          <a:latin typeface="Do Hyeon"/>
                          <a:ea typeface="Do Hyeon"/>
                          <a:cs typeface="Do Hyeon"/>
                        </a:rPr>
                        <a:t>순비용</a:t>
                      </a:r>
                    </a:p>
                  </a:txBody>
                  <a:tcPr marL="91440" marR="91440" marT="45720" marB="45720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F33"/>
                          </a:solidFill>
                          <a:latin typeface="Do Hyeon"/>
                          <a:ea typeface="Do Hyeon"/>
                          <a:cs typeface="Do Hyeon"/>
                        </a:rPr>
                        <a:t>-177,840원</a:t>
                      </a:r>
                    </a:p>
                  </a:txBody>
                  <a:tcPr marL="91440" marR="91440" marT="45720" marB="45720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F33"/>
                          </a:solidFill>
                          <a:latin typeface="Do Hyeon"/>
                          <a:ea typeface="Do Hyeon"/>
                          <a:cs typeface="Do Hyeon"/>
                        </a:rPr>
                        <a:t>CS·획득·IT비 점검</a:t>
                      </a:r>
                    </a:p>
                  </a:txBody>
                  <a:tcPr marL="91440" marR="91440" marT="45720" marB="45720">
                    <a:solidFill>
                      <a:srgbClr val="F2F6F4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F33"/>
                          </a:solidFill>
                          <a:latin typeface="Do Hyeon"/>
                          <a:ea typeface="Do Hyeon"/>
                          <a:cs typeface="Do Hyeon"/>
                        </a:rPr>
                        <a:t>합계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F33"/>
                          </a:solidFill>
                          <a:latin typeface="Do Hyeon"/>
                          <a:ea typeface="Do Hyeon"/>
                          <a:cs typeface="Do Hyeon"/>
                        </a:rPr>
                        <a:t>-217,040원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F33"/>
                          </a:solidFill>
                          <a:latin typeface="Do Hyeon"/>
                          <a:ea typeface="Do Hyeon"/>
                          <a:cs typeface="Do Hyeon"/>
                        </a:rPr>
                        <a:t>예산과 수정 전망 반영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770128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8575C6-B35D-4BDE-AA77-0DBD85A5C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defPPr>
            <a:lvl1pPr>
              <a:defRPr sz="3225" b="1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1pPr>
            <a:lvl2pPr>
              <a:defRPr sz="3225" b="1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2pPr>
            <a:lvl3pPr>
              <a:defRPr sz="3225" b="1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3pPr>
            <a:lvl4pPr>
              <a:defRPr sz="3225" b="1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4pPr>
            <a:lvl5pPr>
              <a:defRPr sz="3225" b="1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5pPr>
            <a:lvl6pPr>
              <a:defRPr sz="3225" b="1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6pPr>
            <a:lvl7pPr>
              <a:defRPr sz="3225" b="1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7pPr>
            <a:lvl8pPr>
              <a:defRPr sz="3225" b="1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8pPr>
            <a:lvl9pPr>
              <a:defRPr sz="3225" b="1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pPr>
            <a:r>
              <a:rPr sz="3225" b="1">
                <a:solidFill>
                  <a:srgbClr val="173F33"/>
                </a:solidFill>
                <a:latin typeface="Do Hyeon"/>
                <a:ea typeface="Do Hyeon"/>
                <a:cs typeface="Do Hyeon"/>
              </a:rPr>
              <a:t>운영 데이터와 통제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2673CF-79D6-4BA8-9A5C-B2529398C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defPPr>
            <a:lvl1pPr>
              <a:defRPr sz="1275" b="0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1pPr>
            <a:lvl2pPr>
              <a:defRPr sz="1275" b="0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2pPr>
            <a:lvl3pPr>
              <a:defRPr sz="1275" b="0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3pPr>
            <a:lvl4pPr>
              <a:defRPr sz="1275" b="0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4pPr>
            <a:lvl5pPr>
              <a:defRPr sz="1275" b="0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5pPr>
            <a:lvl6pPr>
              <a:defRPr sz="1275" b="0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6pPr>
            <a:lvl7pPr>
              <a:defRPr sz="1275" b="0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7pPr>
            <a:lvl8pPr>
              <a:defRPr sz="1275" b="0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8pPr>
            <a:lvl9pPr>
              <a:defRPr sz="1275" b="0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pPr>
            <a:r>
              <a:rPr sz="1275" b="0">
                <a:solidFill>
                  <a:srgbClr val="173F33"/>
                </a:solidFill>
                <a:latin typeface="Do Hyeon"/>
                <a:ea typeface="Do Hyeon"/>
                <a:cs typeface="Do Hyeon"/>
              </a:rPr>
              <a:t>FootMate · 가정·합성 데이터 기반 / 실제 사업 실적 아님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98DDA0-BBEC-4D1B-8D5B-4E7C81D258AF}"/>
              </a:ext>
            </a:extLst>
          </p:cNvPr>
          <p:cNvGraphicFramePr/>
          <p:nvPr/>
        </p:nvGraphicFramePr>
        <p:xfrm>
          <a:off xmlns:a="http://schemas.openxmlformats.org/drawingml/2006/main" x="609600" y="2238375"/>
          <a:ext xmlns:a="http://schemas.openxmlformats.org/drawingml/2006/main" cx="10972800" cy="3000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486400"/>
                <a:gridCol w="5486400"/>
              </a:tblGrid>
              <a:tr h="6000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o Hyeon"/>
                          <a:ea typeface="Do Hyeon"/>
                          <a:cs typeface="Do Hyeon"/>
                        </a:rPr>
                        <a:t>항목</a:t>
                      </a:r>
                    </a:p>
                  </a:txBody>
                  <a:tcPr marL="91440" marR="91440" marT="45720" marB="45720">
                    <a:solidFill>
                      <a:srgbClr val="173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o Hyeon"/>
                          <a:ea typeface="Do Hyeon"/>
                          <a:cs typeface="Do Hyeon"/>
                        </a:rPr>
                        <a:t>관리 기준</a:t>
                      </a:r>
                    </a:p>
                  </a:txBody>
                  <a:tcPr marL="91440" marR="91440" marT="45720" marB="45720">
                    <a:solidFill>
                      <a:srgbClr val="173F33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F33"/>
                          </a:solidFill>
                          <a:latin typeface="Do Hyeon"/>
                          <a:ea typeface="Do Hyeon"/>
                          <a:cs typeface="Do Hyeon"/>
                        </a:rPr>
                        <a:t>참가·정원</a:t>
                      </a:r>
                    </a:p>
                  </a:txBody>
                  <a:tcPr marL="91440" marR="91440" marT="45720" marB="45720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F33"/>
                          </a:solidFill>
                          <a:latin typeface="Do Hyeon"/>
                          <a:ea typeface="Do Hyeon"/>
                          <a:cs typeface="Do Hyeon"/>
                        </a:rPr>
                        <a:t>동시 요청·취소 복원·서버 검증</a:t>
                      </a:r>
                    </a:p>
                  </a:txBody>
                  <a:tcPr marL="91440" marR="91440" marT="45720" marB="45720">
                    <a:solidFill>
                      <a:srgbClr val="F2F6F4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F33"/>
                          </a:solidFill>
                          <a:latin typeface="Do Hyeon"/>
                          <a:ea typeface="Do Hyeon"/>
                          <a:cs typeface="Do Hyeon"/>
                        </a:rPr>
                        <a:t>거래·정산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F33"/>
                          </a:solidFill>
                          <a:latin typeface="Do Hyeon"/>
                          <a:ea typeface="Do Hyeon"/>
                          <a:cs typeface="Do Hyeon"/>
                        </a:rPr>
                        <a:t>예약 ID·환불·수수료 대사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F33"/>
                          </a:solidFill>
                          <a:latin typeface="Do Hyeon"/>
                          <a:ea typeface="Do Hyeon"/>
                          <a:cs typeface="Do Hyeon"/>
                        </a:rPr>
                        <a:t>운영 권한</a:t>
                      </a:r>
                    </a:p>
                  </a:txBody>
                  <a:tcPr marL="91440" marR="91440" marT="45720" marB="45720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F33"/>
                          </a:solidFill>
                          <a:latin typeface="Do Hyeon"/>
                          <a:ea typeface="Do Hyeon"/>
                          <a:cs typeface="Do Hyeon"/>
                        </a:rPr>
                        <a:t>역할·접근·변경 이력</a:t>
                      </a:r>
                    </a:p>
                  </a:txBody>
                  <a:tcPr marL="91440" marR="91440" marT="45720" marB="45720">
                    <a:solidFill>
                      <a:srgbClr val="F2F6F4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F33"/>
                          </a:solidFill>
                          <a:latin typeface="Do Hyeon"/>
                          <a:ea typeface="Do Hyeon"/>
                          <a:cs typeface="Do Hyeon"/>
                        </a:rPr>
                        <a:t>AI 투자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F33"/>
                          </a:solidFill>
                          <a:latin typeface="Do Hyeon"/>
                          <a:ea typeface="Do Hyeon"/>
                          <a:cs typeface="Do Hyeon"/>
                        </a:rPr>
                        <a:t>기본 정렬 대비 추가 비용·참가 효과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390919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0DD8C8-AA5B-4E44-9CA7-079FACF18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defPPr>
            <a:lvl1pPr>
              <a:defRPr sz="3225" b="1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1pPr>
            <a:lvl2pPr>
              <a:defRPr sz="3225" b="1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2pPr>
            <a:lvl3pPr>
              <a:defRPr sz="3225" b="1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3pPr>
            <a:lvl4pPr>
              <a:defRPr sz="3225" b="1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4pPr>
            <a:lvl5pPr>
              <a:defRPr sz="3225" b="1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5pPr>
            <a:lvl6pPr>
              <a:defRPr sz="3225" b="1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6pPr>
            <a:lvl7pPr>
              <a:defRPr sz="3225" b="1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7pPr>
            <a:lvl8pPr>
              <a:defRPr sz="3225" b="1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8pPr>
            <a:lvl9pPr>
              <a:defRPr sz="3225" b="1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pPr>
            <a:r>
              <a:rPr sz="3225" b="1">
                <a:solidFill>
                  <a:srgbClr val="173F33"/>
                </a:solidFill>
                <a:latin typeface="Do Hyeon"/>
                <a:ea typeface="Do Hyeon"/>
                <a:cs typeface="Do Hyeon"/>
              </a:rPr>
              <a:t>IT 투자 범위와 비용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EA7918-3688-4342-87D4-A6B06D346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defPPr>
            <a:lvl1pPr>
              <a:defRPr sz="1275" b="0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1pPr>
            <a:lvl2pPr>
              <a:defRPr sz="1275" b="0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2pPr>
            <a:lvl3pPr>
              <a:defRPr sz="1275" b="0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3pPr>
            <a:lvl4pPr>
              <a:defRPr sz="1275" b="0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4pPr>
            <a:lvl5pPr>
              <a:defRPr sz="1275" b="0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5pPr>
            <a:lvl6pPr>
              <a:defRPr sz="1275" b="0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6pPr>
            <a:lvl7pPr>
              <a:defRPr sz="1275" b="0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7pPr>
            <a:lvl8pPr>
              <a:defRPr sz="1275" b="0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8pPr>
            <a:lvl9pPr>
              <a:defRPr sz="1275" b="0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pPr>
            <a:r>
              <a:rPr sz="1275" b="0">
                <a:solidFill>
                  <a:srgbClr val="173F33"/>
                </a:solidFill>
                <a:latin typeface="Do Hyeon"/>
                <a:ea typeface="Do Hyeon"/>
                <a:cs typeface="Do Hyeon"/>
              </a:rPr>
              <a:t>FootMate · 가정·합성 데이터 기반 / 실제 사업 실적 아님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2939D5-C965-4DBD-A60B-7EF2289D22BA}"/>
              </a:ext>
            </a:extLst>
          </p:cNvPr>
          <p:cNvGraphicFramePr/>
          <p:nvPr/>
        </p:nvGraphicFramePr>
        <p:xfrm>
          <a:off xmlns:a="http://schemas.openxmlformats.org/drawingml/2006/main" x="609600" y="2238375"/>
          <a:ext xmlns:a="http://schemas.openxmlformats.org/drawingml/2006/main" cx="10972800" cy="3000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486400"/>
                <a:gridCol w="5486400"/>
              </a:tblGrid>
              <a:tr h="6000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o Hyeon"/>
                          <a:ea typeface="Do Hyeon"/>
                          <a:cs typeface="Do Hyeon"/>
                        </a:rPr>
                        <a:t>범위</a:t>
                      </a:r>
                    </a:p>
                  </a:txBody>
                  <a:tcPr marL="91440" marR="91440" marT="45720" marB="45720">
                    <a:solidFill>
                      <a:srgbClr val="173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o Hyeon"/>
                          <a:ea typeface="Do Hyeon"/>
                          <a:cs typeface="Do Hyeon"/>
                        </a:rPr>
                        <a:t>투자 조건</a:t>
                      </a:r>
                    </a:p>
                  </a:txBody>
                  <a:tcPr marL="91440" marR="91440" marT="45720" marB="45720">
                    <a:solidFill>
                      <a:srgbClr val="173F33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F33"/>
                          </a:solidFill>
                          <a:latin typeface="Do Hyeon"/>
                          <a:ea typeface="Do Hyeon"/>
                          <a:cs typeface="Do Hyeon"/>
                        </a:rPr>
                        <a:t>초기 투자 300만원</a:t>
                      </a:r>
                    </a:p>
                  </a:txBody>
                  <a:tcPr marL="91440" marR="91440" marT="45720" marB="45720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F33"/>
                          </a:solidFill>
                          <a:latin typeface="Do Hyeon"/>
                          <a:ea typeface="Do Hyeon"/>
                          <a:cs typeface="Do Hyeon"/>
                        </a:rPr>
                        <a:t>권한·정원·참가·대사에 우선 배정</a:t>
                      </a:r>
                    </a:p>
                  </a:txBody>
                  <a:tcPr marL="91440" marR="91440" marT="45720" marB="45720">
                    <a:solidFill>
                      <a:srgbClr val="F2F6F4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F33"/>
                          </a:solidFill>
                          <a:latin typeface="Do Hyeon"/>
                          <a:ea typeface="Do Hyeon"/>
                          <a:cs typeface="Do Hyeon"/>
                        </a:rPr>
                        <a:t>월 고정비 60만원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F33"/>
                          </a:solidFill>
                          <a:latin typeface="Do Hyeon"/>
                          <a:ea typeface="Do Hyeon"/>
                          <a:cs typeface="Do Hyeon"/>
                        </a:rPr>
                        <a:t>인프라·도구·모니터링·예비비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F33"/>
                          </a:solidFill>
                          <a:latin typeface="Do Hyeon"/>
                          <a:ea typeface="Do Hyeon"/>
                          <a:cs typeface="Do Hyeon"/>
                        </a:rPr>
                        <a:t>36개월 고정 TCO 2,460만원</a:t>
                      </a:r>
                    </a:p>
                  </a:txBody>
                  <a:tcPr marL="91440" marR="91440" marT="45720" marB="45720">
                    <a:solidFill>
                      <a:srgbClr val="F2F6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F33"/>
                          </a:solidFill>
                          <a:latin typeface="Do Hyeon"/>
                          <a:ea typeface="Do Hyeon"/>
                          <a:cs typeface="Do Hyeon"/>
                        </a:rPr>
                        <a:t>변동비·추가 투자 제외</a:t>
                      </a:r>
                    </a:p>
                  </a:txBody>
                  <a:tcPr marL="91440" marR="91440" marT="45720" marB="45720">
                    <a:solidFill>
                      <a:srgbClr val="F2F6F4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F33"/>
                          </a:solidFill>
                          <a:latin typeface="Do Hyeon"/>
                          <a:ea typeface="Do Hyeon"/>
                          <a:cs typeface="Do Hyeon"/>
                        </a:rPr>
                        <a:t>노동비용 포함 9,660만원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F33"/>
                          </a:solidFill>
                          <a:latin typeface="Do Hyeon"/>
                          <a:ea typeface="Do Hyeon"/>
                          <a:cs typeface="Do Hyeon"/>
                        </a:rPr>
                        <a:t>월 200만원 기회비용 추가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166753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102276-BFCB-4AAE-9DD4-2840A229B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defPPr>
            <a:lvl1pPr>
              <a:defRPr sz="3225" b="1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1pPr>
            <a:lvl2pPr>
              <a:defRPr sz="3225" b="1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2pPr>
            <a:lvl3pPr>
              <a:defRPr sz="3225" b="1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3pPr>
            <a:lvl4pPr>
              <a:defRPr sz="3225" b="1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4pPr>
            <a:lvl5pPr>
              <a:defRPr sz="3225" b="1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5pPr>
            <a:lvl6pPr>
              <a:defRPr sz="3225" b="1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6pPr>
            <a:lvl7pPr>
              <a:defRPr sz="3225" b="1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7pPr>
            <a:lvl8pPr>
              <a:defRPr sz="3225" b="1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8pPr>
            <a:lvl9pPr>
              <a:defRPr sz="3225" b="1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pPr>
            <a:r>
              <a:rPr sz="3225" b="1">
                <a:solidFill>
                  <a:srgbClr val="173F33"/>
                </a:solidFill>
                <a:latin typeface="Do Hyeon"/>
                <a:ea typeface="Do Hyeon"/>
                <a:cs typeface="Do Hyeon"/>
              </a:rPr>
              <a:t>의사결정 메모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9E82ED-5320-411F-A98D-38CC45378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defPPr>
            <a:lvl1pPr>
              <a:defRPr sz="1275" b="0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1pPr>
            <a:lvl2pPr>
              <a:defRPr sz="1275" b="0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2pPr>
            <a:lvl3pPr>
              <a:defRPr sz="1275" b="0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3pPr>
            <a:lvl4pPr>
              <a:defRPr sz="1275" b="0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4pPr>
            <a:lvl5pPr>
              <a:defRPr sz="1275" b="0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5pPr>
            <a:lvl6pPr>
              <a:defRPr sz="1275" b="0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6pPr>
            <a:lvl7pPr>
              <a:defRPr sz="1275" b="0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7pPr>
            <a:lvl8pPr>
              <a:defRPr sz="1275" b="0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8pPr>
            <a:lvl9pPr>
              <a:defRPr sz="1275" b="0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pPr>
            <a:r>
              <a:rPr sz="1275" b="0">
                <a:solidFill>
                  <a:srgbClr val="173F33"/>
                </a:solidFill>
                <a:latin typeface="Do Hyeon"/>
                <a:ea typeface="Do Hyeon"/>
                <a:cs typeface="Do Hyeon"/>
              </a:rPr>
              <a:t>FootMate · 가정·합성 데이터 기반 / 실제 사업 실적 아님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C36481-D5A9-41F1-878F-DC0659E2D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defPPr>
            <a:lvl1pPr>
              <a:defRPr sz="2625" b="1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1pPr>
            <a:lvl2pPr>
              <a:defRPr sz="2625" b="1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2pPr>
            <a:lvl3pPr>
              <a:defRPr sz="2625" b="1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3pPr>
            <a:lvl4pPr>
              <a:defRPr sz="2625" b="1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4pPr>
            <a:lvl5pPr>
              <a:defRPr sz="2625" b="1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5pPr>
            <a:lvl6pPr>
              <a:defRPr sz="2625" b="1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6pPr>
            <a:lvl7pPr>
              <a:defRPr sz="2625" b="1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7pPr>
            <a:lvl8pPr>
              <a:defRPr sz="2625" b="1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8pPr>
            <a:lvl9pPr>
              <a:defRPr sz="2625" b="1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pPr>
            <a:r>
              <a:rPr sz="2625" b="1">
                <a:solidFill>
                  <a:srgbClr val="173F33"/>
                </a:solidFill>
                <a:latin typeface="Do Hyeon"/>
                <a:ea typeface="Do Hyeon"/>
                <a:cs typeface="Do Hyeon"/>
              </a:rPr>
              <a:t>제휴형을 우선 검토하고 복합 협상을 추진합니다.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DFAEAD-88A8-4690-ACCD-ACDAAD93D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109728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defPPr>
            <a:lvl1pPr>
              <a:defRPr sz="2175" b="0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1pPr>
            <a:lvl2pPr>
              <a:defRPr sz="2175" b="0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2pPr>
            <a:lvl3pPr>
              <a:defRPr sz="2175" b="0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3pPr>
            <a:lvl4pPr>
              <a:defRPr sz="2175" b="0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4pPr>
            <a:lvl5pPr>
              <a:defRPr sz="2175" b="0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5pPr>
            <a:lvl6pPr>
              <a:defRPr sz="2175" b="0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6pPr>
            <a:lvl7pPr>
              <a:defRPr sz="2175" b="0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7pPr>
            <a:lvl8pPr>
              <a:defRPr sz="2175" b="0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8pPr>
            <a:lvl9pPr>
              <a:defRPr sz="2175" b="0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pPr>
            <a:r>
              <a:rPr sz="2175" b="0">
                <a:solidFill>
                  <a:srgbClr val="173F33"/>
                </a:solidFill>
                <a:latin typeface="Do Hyeon"/>
                <a:ea typeface="Do Hyeon"/>
                <a:cs typeface="Do Hyeon"/>
              </a:rPr>
              <a:t>건당 공헌이익·경유 예약·반복 참가를 함께 평가합니다.</a:t>
            </a:r>
          </a:p>
          <a:p xmlns:a="http://schemas.openxmlformats.org/drawingml/2006/main">
            <a:pPr>
              <a:defRPr sz="2175" b="0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pPr>
            <a:r>
              <a:rPr sz="2175" b="0">
                <a:solidFill>
                  <a:srgbClr val="173F33"/>
                </a:solidFill>
                <a:latin typeface="Do Hyeon"/>
                <a:ea typeface="Do Hyeon"/>
                <a:cs typeface="Do Hyeon"/>
              </a:rPr>
              <a:t>취소와 고객지원 비용을 포함해 월 손익을 재검토합니다.</a:t>
            </a:r>
          </a:p>
          <a:p xmlns:a="http://schemas.openxmlformats.org/drawingml/2006/main">
            <a:pPr>
              <a:defRPr sz="2175" b="0">
                <a:solidFill>
                  <a:srgbClr val="173F33"/>
                </a:solidFill>
                <a:latin typeface="Do Hyeon"/>
                <a:ea typeface="Do Hyeon"/>
                <a:cs typeface="Do Hyeon"/>
              </a:defRPr>
            </a:pPr>
            <a:r>
              <a:rPr sz="2175" b="0">
                <a:solidFill>
                  <a:srgbClr val="173F33"/>
                </a:solidFill>
                <a:latin typeface="Do Hyeon"/>
                <a:ea typeface="Do Hyeon"/>
                <a:cs typeface="Do Hyeon"/>
              </a:rPr>
              <a:t>수익성 개선 조건을 충족할 때 공급과 IT 투자를 확대합니다.</a:t>
            </a:r>
          </a:p>
        </p:txBody>
      </p:sp>
    </p:spTree>
    <p:extLst>
      <p:ext uri="{BB962C8B-B14F-4D97-AF65-F5344CB8AC3E}">
        <p14:creationId xmlns:p14="http://schemas.microsoft.com/office/powerpoint/2010/main" val="7648753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2026-10-30T11:02:04.5600000Z</dcterms:created>
  <dcterms:modified xsi:type="dcterms:W3CDTF">2026-10-30T11:02:04.5600000Z</dcterms:modified>
</coreProperties>
</file>