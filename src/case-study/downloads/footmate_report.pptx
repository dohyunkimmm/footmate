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34393a248244bde" Type="http://schemas.openxmlformats.org/officeDocument/2006/relationships/extended-properties" Target="docProps/app.xml"/><Relationship Id="R824573468f1e4303" Type="http://schemas.openxmlformats.org/package/2006/relationships/metadata/core-properties" Target="docProps/core.xml"/><Relationship Id="Ra53c5929e6e54a9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b47d65cf4a40ba"/>
  </p:sldMasterIdLst>
  <p:notesMasterIdLst>
    <p:notesMasterId xmlns:r="http://schemas.openxmlformats.org/officeDocument/2006/relationships" r:id="R4dfd81bf9d7b47e4"/>
  </p:notesMasterIdLst>
  <p:sldIdLst>
    <p:sldId xmlns:r="http://schemas.openxmlformats.org/officeDocument/2006/relationships" id="256" r:id="R264386c267ae40e8"/>
    <p:sldId xmlns:r="http://schemas.openxmlformats.org/officeDocument/2006/relationships" id="257" r:id="Rd3927cf59a544ca5"/>
    <p:sldId xmlns:r="http://schemas.openxmlformats.org/officeDocument/2006/relationships" id="258" r:id="Rfa77b65807084cb3"/>
    <p:sldId xmlns:r="http://schemas.openxmlformats.org/officeDocument/2006/relationships" id="259" r:id="Rca4137d8c8cc4696"/>
    <p:sldId xmlns:r="http://schemas.openxmlformats.org/officeDocument/2006/relationships" id="260" r:id="R5a31cb97b81c4a08"/>
    <p:sldId xmlns:r="http://schemas.openxmlformats.org/officeDocument/2006/relationships" id="261" r:id="Rf4733e15389b41d3"/>
    <p:sldId xmlns:r="http://schemas.openxmlformats.org/officeDocument/2006/relationships" id="262" r:id="R7eb0c3aadcf24a2f"/>
    <p:sldId xmlns:r="http://schemas.openxmlformats.org/officeDocument/2006/relationships" id="263" r:id="R195f0d0fd140425d"/>
    <p:sldId xmlns:r="http://schemas.openxmlformats.org/officeDocument/2006/relationships" id="264" r:id="R59064ff76b9140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1d7bf205c2d4998" Type="http://schemas.openxmlformats.org/officeDocument/2006/relationships/theme" Target="theme/theme1.xml"/><Relationship Id="R195f0d0fd140425d" Type="http://schemas.openxmlformats.org/officeDocument/2006/relationships/slide" Target="slides/slide8.xml"/><Relationship Id="R264386c267ae40e8" Type="http://schemas.openxmlformats.org/officeDocument/2006/relationships/slide" Target="slides/slide1.xml"/><Relationship Id="R3b08b05a834c431f" Type="http://schemas.openxmlformats.org/officeDocument/2006/relationships/tableStyles" Target="tableStyles.xml"/><Relationship Id="R4dfd81bf9d7b47e4" Type="http://schemas.openxmlformats.org/officeDocument/2006/relationships/notesMaster" Target="notesMasters/notesMaster1.xml"/><Relationship Id="R59064ff76b914018" Type="http://schemas.openxmlformats.org/officeDocument/2006/relationships/slide" Target="slides/slide9.xml"/><Relationship Id="R5a31cb97b81c4a08" Type="http://schemas.openxmlformats.org/officeDocument/2006/relationships/slide" Target="slides/slide5.xml"/><Relationship Id="R7eb0c3aadcf24a2f" Type="http://schemas.openxmlformats.org/officeDocument/2006/relationships/slide" Target="slides/slide7.xml"/><Relationship Id="R8eb47d65cf4a40ba" Type="http://schemas.openxmlformats.org/officeDocument/2006/relationships/slideMaster" Target="slideMasters/slideMaster1.xml"/><Relationship Id="Rc87b3ff02f0744d2" Type="http://schemas.openxmlformats.org/officeDocument/2006/relationships/presProps" Target="presProps.xml"/><Relationship Id="Rca4137d8c8cc4696" Type="http://schemas.openxmlformats.org/officeDocument/2006/relationships/slide" Target="slides/slide4.xml"/><Relationship Id="Rd3927cf59a544ca5" Type="http://schemas.openxmlformats.org/officeDocument/2006/relationships/slide" Target="slides/slide2.xml"/><Relationship Id="Rf4733e15389b41d3" Type="http://schemas.openxmlformats.org/officeDocument/2006/relationships/slide" Target="slides/slide6.xml"/><Relationship Id="Rfa77b65807084cb3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27a124c73cc643c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aff42d8db3a4d62" Type="http://schemas.openxmlformats.org/officeDocument/2006/relationships/notesMaster" Target="../notesMasters/notesMaster1.xml"/><Relationship Id="R63fc98b920f54ad8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f23f9d76be34d5c" Type="http://schemas.openxmlformats.org/officeDocument/2006/relationships/slide" Target="../slides/slide2.xml"/><Relationship Id="R7495c79a47234290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1ddda6cd8514daa" Type="http://schemas.openxmlformats.org/officeDocument/2006/relationships/slide" Target="../slides/slide3.xml"/><Relationship Id="R5996745c4c82474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fe34ea47fba4320" Type="http://schemas.openxmlformats.org/officeDocument/2006/relationships/slide" Target="../slides/slide4.xml"/><Relationship Id="R8990637f2b564326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c42fe29704c4c5a" Type="http://schemas.openxmlformats.org/officeDocument/2006/relationships/slide" Target="../slides/slide5.xml"/><Relationship Id="R6914e0195f7f40c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df3fe4a4f7c4fe8" Type="http://schemas.openxmlformats.org/officeDocument/2006/relationships/slide" Target="../slides/slide6.xml"/><Relationship Id="R2bc75a07da624990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c23cbb13d2774a22" Type="http://schemas.openxmlformats.org/officeDocument/2006/relationships/notesMaster" Target="../notesMasters/notesMaster1.xml"/><Relationship Id="Re0cb83021c8c442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97dd350edb7401b" Type="http://schemas.openxmlformats.org/officeDocument/2006/relationships/slide" Target="../slides/slide8.xml"/><Relationship Id="R56aacc5a5ff34b75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b0a0bc13d364924" Type="http://schemas.openxmlformats.org/officeDocument/2006/relationships/slide" Target="../slides/slide9.xml"/><Relationship Id="R77d5ccf9e5af4f2c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포트폴리오용 합성 데이터·가정 기반 예측입니다. 실제 고객·계약·매출·인터뷰 결과가 아닙니다.</a:t>
            </a:r>
          </a:p>
          <a:p xmlns:a="http://schemas.openxmlformats.org/drawingml/2006/main">
            <a:r>
              <a:t>해당 사례의 독립 분석 자료. 계산 파일: footmate_model.xlsx. 시장·고객 근거의 출처와 한계는 원본 케이스 스터디에 표시.</a:t>
            </a:r>
          </a:p>
          <a:p xmlns:a="http://schemas.openxmlformats.org/drawingml/2006/main">
            <a:r>
              <a:t>https://footmate.fmate.workers.dev/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70a8436cfde4ab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c8254c97f8a4b9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57a4089305a44cb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afe7c295a154d4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bb1cf7bac9d47d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ee13311d4d341b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87A3B1-D7CE-4207-B5CE-2CF044C945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BBEE04F-AB09-4B0F-9F63-992C553735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233167-8028-43F0-B159-92F620793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3CB25B-E061-4196-B0AD-4B0188ACF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72BEE5-DABC-4604-BFEA-CD43206A84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69892B0-AF22-4DA0-ACAF-FAB3EFF92F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B8FA811-14B5-47AE-BEA0-9379820777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1045E3E-5CF0-4935-BBC0-4B995BF55FD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368E1F-A74A-4D68-AC37-22D377A72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B5DB1A-2342-42E4-8797-1CD8E36C36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6d7d409c63646f0" Type="http://schemas.openxmlformats.org/officeDocument/2006/relationships/slideLayout" Target="../slideLayouts/slideLayout1.xml"/><Relationship Id="R199f4de4980b4d4e" Type="http://schemas.openxmlformats.org/officeDocument/2006/relationships/slideLayout" Target="../slideLayouts/slideLayout4.xml"/><Relationship Id="R648f54f471894298" Type="http://schemas.openxmlformats.org/officeDocument/2006/relationships/slideLayout" Target="../slideLayouts/slideLayout5.xml"/><Relationship Id="R91a59f3e9e614cf9" Type="http://schemas.openxmlformats.org/officeDocument/2006/relationships/slideLayout" Target="../slideLayouts/slideLayout3.xml"/><Relationship Id="Rc238f7d24e3149e7" Type="http://schemas.openxmlformats.org/officeDocument/2006/relationships/slideLayout" Target="../slideLayouts/slideLayout2.xml"/><Relationship Id="Rd27238b5b5484bb6" Type="http://schemas.openxmlformats.org/officeDocument/2006/relationships/theme" Target="theme/theme2.xml"/><Relationship Id="Rfb3f19d933804de0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d7d409c63646f0"/>
    <p:sldLayoutId xmlns:r="http://schemas.openxmlformats.org/officeDocument/2006/relationships" id="2147483650" r:id="Rc238f7d24e3149e7"/>
    <p:sldLayoutId xmlns:r="http://schemas.openxmlformats.org/officeDocument/2006/relationships" id="2147483651" r:id="R91a59f3e9e614cf9"/>
    <p:sldLayoutId xmlns:r="http://schemas.openxmlformats.org/officeDocument/2006/relationships" id="2147483652" r:id="R199f4de4980b4d4e"/>
    <p:sldLayoutId xmlns:r="http://schemas.openxmlformats.org/officeDocument/2006/relationships" id="2147483653" r:id="R648f54f471894298"/>
    <p:sldLayoutId xmlns:r="http://schemas.openxmlformats.org/officeDocument/2006/relationships" id="2147483654" r:id="Rfb3f19d933804d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1f0409ad2b9400f" Type="http://schemas.openxmlformats.org/officeDocument/2006/relationships/slideLayout" Target="../slideLayouts/slideLayout6.xml"/><Relationship Id="Rc3d1c0adc7e2414b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a1ff7cf4f7f94bd1" Type="http://schemas.openxmlformats.org/officeDocument/2006/relationships/slideLayout" Target="../slideLayouts/slideLayout6.xml"/><Relationship Id="Rae04685ceaef44c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bf54e30c5dd44b3" Type="http://schemas.openxmlformats.org/officeDocument/2006/relationships/notesSlide" Target="../notesSlides/notesSlide3.xml"/><Relationship Id="R500010e09bc24253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4b725ad7873d4591" Type="http://schemas.openxmlformats.org/officeDocument/2006/relationships/slideLayout" Target="../slideLayouts/slideLayout6.xml"/><Relationship Id="R6b11065f2e684d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a69c54c2e0a4896" Type="http://schemas.openxmlformats.org/officeDocument/2006/relationships/notesSlide" Target="../notesSlides/notesSlide5.xml"/><Relationship Id="R3182d2ed26c14f9d" Type="http://schemas.openxmlformats.org/officeDocument/2006/relationships/slideLayout" Target="../slideLayouts/slideLayout6.xml"/><Relationship Id="R424f7d8a8a4a4c07" Type="http://schemas.openxmlformats.org/officeDocument/2006/relationships/chart" Target="charts/chart1.xml"/></Relationships>
</file>

<file path=ppt/slides/_rels/slide6.xml.rels><?xml version='1.0' encoding='UTF-8' standalone='yes'?>
<Relationships xmlns="http://schemas.openxmlformats.org/package/2006/relationships"><Relationship Id="Ra16bda90859c4674" Type="http://schemas.openxmlformats.org/officeDocument/2006/relationships/slideLayout" Target="../slideLayouts/slideLayout6.xml"/><Relationship Id="Ra7a9eab7dd7a4f0d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dc1883fc4384489" Type="http://schemas.openxmlformats.org/officeDocument/2006/relationships/slideLayout" Target="../slideLayouts/slideLayout6.xml"/><Relationship Id="Rc0fc61912269497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db696761715435c" Type="http://schemas.openxmlformats.org/officeDocument/2006/relationships/slideLayout" Target="../slideLayouts/slideLayout6.xml"/><Relationship Id="Re68bb9cd9e41470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d80f52b40b7d4846" Type="http://schemas.openxmlformats.org/officeDocument/2006/relationships/notesSlide" Target="../notesSlides/notesSlide9.xml"/><Relationship Id="Ree27e152dad04ebe" Type="http://schemas.openxmlformats.org/officeDocument/2006/relationships/slideLayout" Target="../slideLayouts/slideLayout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Do Hyeon"/>
                <a:ea typeface="Do Hyeon"/>
                <a:cs typeface="Do Hyeon"/>
              </a:rPr>
              <a:t>FootMate 수수료 매출 (원)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o Hyeon"/>
              <a:ea typeface="Do Hyeon"/>
              <a:cs typeface="Do Hyeon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v>계획</c:v>
          </c:tx>
          <c:spPr>
            <a:solidFill xmlns:a="http://schemas.openxmlformats.org/drawingml/2006/main">
              <a:srgbClr val="173F33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751200</c:v>
                </c:pt>
                <c:pt idx="1">
                  <c:v>780000</c:v>
                </c:pt>
                <c:pt idx="2">
                  <c:v>810000</c:v>
                </c:pt>
                <c:pt idx="3">
                  <c:v>1176000</c:v>
                </c:pt>
                <c:pt idx="4">
                  <c:v>1218000</c:v>
                </c:pt>
                <c:pt idx="5">
                  <c:v>1262400</c:v>
                </c:pt>
                <c:pt idx="6">
                  <c:v>1678800</c:v>
                </c:pt>
                <c:pt idx="7">
                  <c:v>1737600</c:v>
                </c:pt>
                <c:pt idx="8">
                  <c:v>1795200</c:v>
                </c:pt>
                <c:pt idx="9">
                  <c:v>2266800</c:v>
                </c:pt>
                <c:pt idx="10">
                  <c:v>2341200</c:v>
                </c:pt>
                <c:pt idx="11">
                  <c:v>2415600</c:v>
                </c:pt>
              </c:numCache>
            </c:numRef>
          </c:val>
        </c:ser>
        <c:ser>
          <c:idx val="1"/>
          <c:order val="1"/>
          <c:tx>
            <c:v>수정 전망</c:v>
          </c:tx>
          <c:spPr>
            <a:solidFill xmlns:a="http://schemas.openxmlformats.org/drawingml/2006/main">
              <a:srgbClr val="8FB69A"/>
            </a:solidFill>
          </c:spPr>
          <c:invertIfNegative val="0"/>
          <c:cat>
            <c:strRef>
              <c:f>'Chart Data'!$C$2:$C$13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644300</c:v>
                </c:pt>
                <c:pt idx="1">
                  <c:v>685800</c:v>
                </c:pt>
                <c:pt idx="2">
                  <c:v>731300</c:v>
                </c:pt>
                <c:pt idx="3">
                  <c:v>1088800</c:v>
                </c:pt>
                <c:pt idx="4">
                  <c:v>1172000</c:v>
                </c:pt>
                <c:pt idx="5">
                  <c:v>1223200</c:v>
                </c:pt>
                <c:pt idx="6">
                  <c:v>1678800</c:v>
                </c:pt>
                <c:pt idx="7">
                  <c:v>1737600</c:v>
                </c:pt>
                <c:pt idx="8">
                  <c:v>1795200</c:v>
                </c:pt>
                <c:pt idx="9">
                  <c:v>2266800</c:v>
                </c:pt>
                <c:pt idx="10">
                  <c:v>2341200</c:v>
                </c:pt>
                <c:pt idx="11">
                  <c:v>2415600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o Hyeon"/>
                  <a:ea typeface="Do Hyeon"/>
                  <a:cs typeface="Do Hyeo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Do Hyeon"/>
                <a:ea typeface="Do Hyeon"/>
                <a:cs typeface="Do Hyeon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Do Hyeon"/>
                <a:ea typeface="Do Hyeon"/>
                <a:cs typeface="Do Hyeon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Do Hyeon"/>
              <a:ea typeface="Do Hyeon"/>
              <a:cs typeface="Do Hyeon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28320-E2F6-4529-9F00-E10793A5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플랫폼 운영과 수익성 개선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9249C-0DF7-4ABD-AD78-875E8AF1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8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공급·참가·거래 데이터를 IT 투자와 운영 판단에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C1A3B-CBEE-4511-BB8D-AC230BD3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8D70C-BE1C-4DF4-9697-5327E6FE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97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6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경유 예약과 원가 구조를 분리하고</a:t>
            </a:r>
          </a:p>
          <a:p xmlns:a="http://schemas.openxmlformats.org/drawingml/2006/main">
            <a: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6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수수료·결제비 협상과 공급 확대 조건을 검토했습니다.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588283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DFCA8-3E24-42C6-84F3-598F41EA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운영 모델과 책임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BFE99-B9EC-4549-BC69-3DE41FBB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E384F-371C-4388-A094-120CA02C2F42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2400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주체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관리 과제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플랫폼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경기 노출·참가·문의·정산 대사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운영자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정원 정보·현장 진행·취소 결정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참가자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조건 확인·참가 확정·출석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4504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AEF24-5CA9-4BC4-8556-F133D3ED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플랫폼 경유 완료 예약은 월 626건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8FAB0-6A42-4574-A589-024A3C88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8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기준 가정 · 정원과 경유 예약 구분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028E2-5D0C-4F4C-99A9-BD6B53F3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0FD92-8CEF-42DF-B77F-76967D49659F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정원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충원율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경유율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취소 후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완료율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완료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1,558.8석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75%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60%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92%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97%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626건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6FBA3-E37B-49E1-B3D2-50872E75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3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수수료 매출 751,200원 / 노동비용 포함 손익 −2,387,160원</a:t>
            </a:r>
          </a:p>
        </p:txBody>
      </p:sp>
    </p:spTree>
    <p:extLst>
      <p:ext uri="{BB962C8B-B14F-4D97-AF65-F5344CB8AC3E}">
        <p14:creationId xmlns:p14="http://schemas.microsoft.com/office/powerpoint/2010/main" val="1888869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0CD55-3112-4CDA-BC57-09102384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수익성 개선안과 협상 우선순위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C081F-7230-412E-9915-14FC4691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E3EB3-FA98-4A5F-B325-F14A573B91F1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대안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공헌이익/건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손익분기 예약/월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기준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340원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7,648건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수수료 12%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580원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4,483건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결제비 운영자 부담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700원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3,715건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복합 협상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940원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2,766건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44B37-ED69-4513-8813-B276A16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0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복합 협상 시 동일 조건의 공급처 약 23곳 필요</a:t>
            </a:r>
          </a:p>
        </p:txBody>
      </p:sp>
    </p:spTree>
    <p:extLst>
      <p:ext uri="{BB962C8B-B14F-4D97-AF65-F5344CB8AC3E}">
        <p14:creationId xmlns:p14="http://schemas.microsoft.com/office/powerpoint/2010/main" val="106181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F9C0F-1589-42D7-83C9-9423A38D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월간 성과관리와 수정 전망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9D99D-9F87-4BCE-AFCC-2D886520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237466A2-2614-43A8-ABAF-A8E42DB14E81}"/>
              </a:ext>
            </a:extLst>
          </p:cNvPr>
          <p:cNvGraphicFramePr/>
          <p:nvPr/>
        </p:nvGraphicFramePr>
        <p:xfrm>
          <a:off xmlns:a="http://schemas.openxmlformats.org/drawingml/2006/main" x="609600" y="21907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4f7d8a8a4a4c0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2D858-A152-4B07-B8CD-4F3184C0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72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상반기 모형 거래·하반기 전망 비교</a:t>
            </a:r>
          </a:p>
        </p:txBody>
      </p:sp>
    </p:spTree>
    <p:extLst>
      <p:ext uri="{BB962C8B-B14F-4D97-AF65-F5344CB8AC3E}">
        <p14:creationId xmlns:p14="http://schemas.microsoft.com/office/powerpoint/2010/main" val="6975559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FCD23-ACA9-41AD-A370-1445098D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손익 차이를 물량·단가·비용으로 설명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8412F-C8B6-4DF2-B37D-592BEE96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FB808-3870-4FEA-9C69-DF84C44C0203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6월 모형 차이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손익 영향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운영 조치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완료 물량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-39,600원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경유·취소·완료율 점검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수수료 단가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400원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가격·수수료 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순비용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-177,840원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CS·획득·IT비 점검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합계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-217,040원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예산과 수정 전망 반영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7012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575C6-B35D-4BDE-AA77-0DBD85A5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운영 데이터와 통제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673CF-79D6-4BA8-9A5C-B2529398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8DDA0-BBEC-4D1B-8D5B-4E7C81D258AF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관리 기준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참가·정원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동시 요청·취소 복원·서버 검증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거래·정산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예약 ID·환불·수수료 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운영 권한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역할·접근·변경 이력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AI 투자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기본 정렬 대비 추가 비용·참가 효과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091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DD8C8-AA5B-4E44-9CA7-079FACF1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IT 투자 범위와 비용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A7918-3688-4342-87D4-A6B06D34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939D5-C965-4DBD-A60B-7EF2289D22BA}"/>
              </a:ext>
            </a:extLst>
          </p:cNvPr>
          <p:cNvGraphicFramePr/>
          <p:nvPr/>
        </p:nvGraphicFramePr>
        <p:xfrm>
          <a:off xmlns:a="http://schemas.openxmlformats.org/drawingml/2006/main" x="609600" y="223837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00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범위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o Hyeon"/>
                          <a:ea typeface="Do Hyeon"/>
                          <a:cs typeface="Do Hyeon"/>
                        </a:rPr>
                        <a:t>투자 조건</a:t>
                      </a:r>
                    </a:p>
                  </a:txBody>
                  <a:tcPr marL="91440" marR="91440" marT="45720" marB="45720">
                    <a:solidFill>
                      <a:srgbClr val="173F33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초기 투자 300만원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권한·정원·참가·대사에 우선 배정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월 고정비 60만원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인프라·도구·모니터링·예비비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36개월 고정 TCO 2,460만원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변동비·추가 투자 제외</a:t>
                      </a:r>
                    </a:p>
                  </a:txBody>
                  <a:tcPr marL="91440" marR="91440" marT="45720" marB="45720">
                    <a:solidFill>
                      <a:srgbClr val="F2F6F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노동비용 포함 9,660만원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F33"/>
                          </a:solidFill>
                          <a:latin typeface="Do Hyeon"/>
                          <a:ea typeface="Do Hyeon"/>
                          <a:cs typeface="Do Hyeon"/>
                        </a:rPr>
                        <a:t>월 200만원 기회비용 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16675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02276-BFCB-4AAE-9DD4-2840A229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32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의사결정 메모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E82ED-5320-411F-A98D-38CC4537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22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12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FootMate · 사업·IT 기획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36481-D5A9-41F1-878F-DC0659E2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625" b="1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제휴형을 우선 검토하고 복합 협상을 추진합니다.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DFAEAD-88A8-4690-ACCD-ACDAAD93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defPPr>
            <a:lvl1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1pPr>
            <a:lvl2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2pPr>
            <a:lvl3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3pPr>
            <a:lvl4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4pPr>
            <a:lvl5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5pPr>
            <a:lvl6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6pPr>
            <a:lvl7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7pPr>
            <a:lvl8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8pPr>
            <a:lvl9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1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건당 공헌이익·경유 예약·반복 참가를 함께 평가합니다.</a:t>
            </a:r>
          </a:p>
          <a:p xmlns:a="http://schemas.openxmlformats.org/drawingml/2006/main">
            <a: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1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취소와 고객지원 비용을 포함해 월 손익을 재검토합니다.</a:t>
            </a:r>
          </a:p>
          <a:p xmlns:a="http://schemas.openxmlformats.org/drawingml/2006/main">
            <a:pPr>
              <a:defRPr sz="2175" b="0">
                <a:solidFill>
                  <a:srgbClr val="173F33"/>
                </a:solidFill>
                <a:latin typeface="Do Hyeon"/>
                <a:ea typeface="Do Hyeon"/>
                <a:cs typeface="Do Hyeon"/>
              </a:defRPr>
            </a:pPr>
            <a:r>
              <a:rPr sz="2175" b="0">
                <a:solidFill>
                  <a:srgbClr val="173F33"/>
                </a:solidFill>
                <a:latin typeface="Do Hyeon"/>
                <a:ea typeface="Do Hyeon"/>
                <a:cs typeface="Do Hyeon"/>
              </a:rPr>
              <a:t>수익성 개선 조건을 충족할 때 공급과 IT 투자를 확대합니다.</a:t>
            </a:r>
          </a:p>
        </p:txBody>
      </p:sp>
    </p:spTree>
    <p:extLst>
      <p:ext uri="{BB962C8B-B14F-4D97-AF65-F5344CB8AC3E}">
        <p14:creationId xmlns:p14="http://schemas.microsoft.com/office/powerpoint/2010/main" val="7648753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2026-10-30T11:02:04.5600000Z</dcterms:created>
  <dcterms:modified xsi:type="dcterms:W3CDTF">2026-10-30T11:02:04.5600000Z</dcterms:modified>
</coreProperties>
</file>